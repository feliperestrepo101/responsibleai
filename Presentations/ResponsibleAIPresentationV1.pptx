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6" r:id="rId4"/>
  </p:sldMasterIdLst>
  <p:notesMasterIdLst>
    <p:notesMasterId r:id="rId31"/>
  </p:notesMasterIdLst>
  <p:sldIdLst>
    <p:sldId id="256" r:id="rId5"/>
    <p:sldId id="297" r:id="rId6"/>
    <p:sldId id="258" r:id="rId7"/>
    <p:sldId id="293" r:id="rId8"/>
    <p:sldId id="298" r:id="rId9"/>
    <p:sldId id="299" r:id="rId10"/>
    <p:sldId id="260" r:id="rId11"/>
    <p:sldId id="300" r:id="rId12"/>
    <p:sldId id="301" r:id="rId13"/>
    <p:sldId id="277" r:id="rId14"/>
    <p:sldId id="262" r:id="rId15"/>
    <p:sldId id="278" r:id="rId16"/>
    <p:sldId id="295" r:id="rId17"/>
    <p:sldId id="280" r:id="rId18"/>
    <p:sldId id="289" r:id="rId19"/>
    <p:sldId id="281" r:id="rId20"/>
    <p:sldId id="282" r:id="rId21"/>
    <p:sldId id="296" r:id="rId22"/>
    <p:sldId id="291" r:id="rId23"/>
    <p:sldId id="290" r:id="rId24"/>
    <p:sldId id="283" r:id="rId25"/>
    <p:sldId id="284" r:id="rId26"/>
    <p:sldId id="285" r:id="rId27"/>
    <p:sldId id="286" r:id="rId28"/>
    <p:sldId id="287" r:id="rId29"/>
    <p:sldId id="288"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3A31"/>
    <a:srgbClr val="3C2B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68955-BE1D-4F5F-B408-CE70274902D3}" v="2" dt="2025-11-21T19:58:25.1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strepo,Felipe" userId="S::fel2163218@maricopa.edu::b75f12e2-536c-4746-b91a-77e5f7eb6e51" providerId="AD" clId="Web-{189FBF77-CBAD-C77F-83AA-835F2AB15C5E}"/>
    <pc:docChg chg="mod addSld delSld modSld sldOrd addMainMaster delMainMaster modMainMaster">
      <pc:chgData name="Restrepo,Felipe" userId="S::fel2163218@maricopa.edu::b75f12e2-536c-4746-b91a-77e5f7eb6e51" providerId="AD" clId="Web-{189FBF77-CBAD-C77F-83AA-835F2AB15C5E}" dt="2025-10-29T05:24:46.023" v="1565" actId="20577"/>
      <pc:docMkLst>
        <pc:docMk/>
      </pc:docMkLst>
      <pc:sldChg chg="modSp mod modClrScheme chgLayout">
        <pc:chgData name="Restrepo,Felipe" userId="S::fel2163218@maricopa.edu::b75f12e2-536c-4746-b91a-77e5f7eb6e51" providerId="AD" clId="Web-{189FBF77-CBAD-C77F-83AA-835F2AB15C5E}" dt="2025-10-29T05:20:17.865" v="1512" actId="20577"/>
        <pc:sldMkLst>
          <pc:docMk/>
          <pc:sldMk cId="2963964124" sldId="256"/>
        </pc:sldMkLst>
        <pc:spChg chg="mod">
          <ac:chgData name="Restrepo,Felipe" userId="S::fel2163218@maricopa.edu::b75f12e2-536c-4746-b91a-77e5f7eb6e51" providerId="AD" clId="Web-{189FBF77-CBAD-C77F-83AA-835F2AB15C5E}" dt="2025-10-29T05:20:17.865" v="1512" actId="20577"/>
          <ac:spMkLst>
            <pc:docMk/>
            <pc:sldMk cId="2963964124" sldId="256"/>
            <ac:spMk id="2" creationId="{58191409-041C-9A9F-3D67-DD08939AB43A}"/>
          </ac:spMkLst>
        </pc:spChg>
      </pc:sldChg>
      <pc:sldChg chg="delSp modSp mod setBg modClrScheme delDesignElem chgLayout">
        <pc:chgData name="Restrepo,Felipe" userId="S::fel2163218@maricopa.edu::b75f12e2-536c-4746-b91a-77e5f7eb6e51" providerId="AD" clId="Web-{189FBF77-CBAD-C77F-83AA-835F2AB15C5E}" dt="2025-10-29T05:24:46.023" v="1565" actId="20577"/>
        <pc:sldMkLst>
          <pc:docMk/>
          <pc:sldMk cId="1437499357" sldId="258"/>
        </pc:sldMkLst>
        <pc:spChg chg="mod ord">
          <ac:chgData name="Restrepo,Felipe" userId="S::fel2163218@maricopa.edu::b75f12e2-536c-4746-b91a-77e5f7eb6e51" providerId="AD" clId="Web-{189FBF77-CBAD-C77F-83AA-835F2AB15C5E}" dt="2025-10-29T04:43:16.292" v="27"/>
          <ac:spMkLst>
            <pc:docMk/>
            <pc:sldMk cId="1437499357" sldId="258"/>
            <ac:spMk id="2" creationId="{5D7C2480-DFDE-E0CB-046A-CFC996FACB05}"/>
          </ac:spMkLst>
        </pc:spChg>
        <pc:spChg chg="mod ord">
          <ac:chgData name="Restrepo,Felipe" userId="S::fel2163218@maricopa.edu::b75f12e2-536c-4746-b91a-77e5f7eb6e51" providerId="AD" clId="Web-{189FBF77-CBAD-C77F-83AA-835F2AB15C5E}" dt="2025-10-29T05:24:46.023" v="1565" actId="20577"/>
          <ac:spMkLst>
            <pc:docMk/>
            <pc:sldMk cId="1437499357" sldId="258"/>
            <ac:spMk id="3" creationId="{2F14BC94-7E12-99D7-4519-15EAD4CF3A0B}"/>
          </ac:spMkLst>
        </pc:spChg>
      </pc:sldChg>
      <pc:sldChg chg="delSp modSp mod setBg modClrScheme delDesignElem chgLayout">
        <pc:chgData name="Restrepo,Felipe" userId="S::fel2163218@maricopa.edu::b75f12e2-536c-4746-b91a-77e5f7eb6e51" providerId="AD" clId="Web-{189FBF77-CBAD-C77F-83AA-835F2AB15C5E}" dt="2025-10-29T05:06:28.237" v="949"/>
        <pc:sldMkLst>
          <pc:docMk/>
          <pc:sldMk cId="2608426313" sldId="260"/>
        </pc:sldMkLst>
        <pc:spChg chg="mod ord">
          <ac:chgData name="Restrepo,Felipe" userId="S::fel2163218@maricopa.edu::b75f12e2-536c-4746-b91a-77e5f7eb6e51" providerId="AD" clId="Web-{189FBF77-CBAD-C77F-83AA-835F2AB15C5E}" dt="2025-10-29T05:05:34.158" v="925" actId="20577"/>
          <ac:spMkLst>
            <pc:docMk/>
            <pc:sldMk cId="2608426313" sldId="260"/>
            <ac:spMk id="2" creationId="{7025E5DE-A793-173F-CCED-CE58FE42CA57}"/>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1086421251" sldId="262"/>
        </pc:sldMkLst>
        <pc:spChg chg="mod ord">
          <ac:chgData name="Restrepo,Felipe" userId="S::fel2163218@maricopa.edu::b75f12e2-536c-4746-b91a-77e5f7eb6e51" providerId="AD" clId="Web-{189FBF77-CBAD-C77F-83AA-835F2AB15C5E}" dt="2025-10-29T04:43:16.292" v="27"/>
          <ac:spMkLst>
            <pc:docMk/>
            <pc:sldMk cId="1086421251" sldId="262"/>
            <ac:spMk id="2" creationId="{E7ACBA37-A039-16F8-875D-FF49C56C8810}"/>
          </ac:spMkLst>
        </pc:spChg>
      </pc:sldChg>
      <pc:sldChg chg="delSp mod setBg modClrScheme delDesignElem chgLayout">
        <pc:chgData name="Restrepo,Felipe" userId="S::fel2163218@maricopa.edu::b75f12e2-536c-4746-b91a-77e5f7eb6e51" providerId="AD" clId="Web-{189FBF77-CBAD-C77F-83AA-835F2AB15C5E}" dt="2025-10-29T04:47:33.778" v="48"/>
        <pc:sldMkLst>
          <pc:docMk/>
          <pc:sldMk cId="3390823820" sldId="277"/>
        </pc:sldMkLst>
      </pc:sldChg>
      <pc:sldChg chg="delSp mod setBg modClrScheme delDesignElem chgLayout">
        <pc:chgData name="Restrepo,Felipe" userId="S::fel2163218@maricopa.edu::b75f12e2-536c-4746-b91a-77e5f7eb6e51" providerId="AD" clId="Web-{189FBF77-CBAD-C77F-83AA-835F2AB15C5E}" dt="2025-10-29T04:47:33.778" v="48"/>
        <pc:sldMkLst>
          <pc:docMk/>
          <pc:sldMk cId="4195519793" sldId="278"/>
        </pc:sldMkLst>
      </pc:sldChg>
      <pc:sldChg chg="delSp modSp mod setBg modClrScheme delDesignElem chgLayout">
        <pc:chgData name="Restrepo,Felipe" userId="S::fel2163218@maricopa.edu::b75f12e2-536c-4746-b91a-77e5f7eb6e51" providerId="AD" clId="Web-{189FBF77-CBAD-C77F-83AA-835F2AB15C5E}" dt="2025-10-29T04:47:33.778" v="48"/>
        <pc:sldMkLst>
          <pc:docMk/>
          <pc:sldMk cId="2123559803" sldId="280"/>
        </pc:sldMkLst>
        <pc:spChg chg="mod ord">
          <ac:chgData name="Restrepo,Felipe" userId="S::fel2163218@maricopa.edu::b75f12e2-536c-4746-b91a-77e5f7eb6e51" providerId="AD" clId="Web-{189FBF77-CBAD-C77F-83AA-835F2AB15C5E}" dt="2025-10-29T04:43:16.292" v="27"/>
          <ac:spMkLst>
            <pc:docMk/>
            <pc:sldMk cId="2123559803" sldId="280"/>
            <ac:spMk id="3" creationId="{46F9AD34-A9ED-B8C5-FBC6-430BA46D18E8}"/>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3849169913" sldId="281"/>
        </pc:sldMkLst>
        <pc:spChg chg="mod ord">
          <ac:chgData name="Restrepo,Felipe" userId="S::fel2163218@maricopa.edu::b75f12e2-536c-4746-b91a-77e5f7eb6e51" providerId="AD" clId="Web-{189FBF77-CBAD-C77F-83AA-835F2AB15C5E}" dt="2025-10-29T04:43:16.292" v="27"/>
          <ac:spMkLst>
            <pc:docMk/>
            <pc:sldMk cId="3849169913" sldId="281"/>
            <ac:spMk id="3" creationId="{88352E34-5FED-8806-ADC9-653C66B05829}"/>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570967969" sldId="282"/>
        </pc:sldMkLst>
        <pc:spChg chg="mod ord">
          <ac:chgData name="Restrepo,Felipe" userId="S::fel2163218@maricopa.edu::b75f12e2-536c-4746-b91a-77e5f7eb6e51" providerId="AD" clId="Web-{189FBF77-CBAD-C77F-83AA-835F2AB15C5E}" dt="2025-10-29T04:43:16.292" v="27"/>
          <ac:spMkLst>
            <pc:docMk/>
            <pc:sldMk cId="570967969" sldId="282"/>
            <ac:spMk id="3" creationId="{C8FAAA5F-A72E-212B-45DA-E346AA7A5171}"/>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1241404194" sldId="283"/>
        </pc:sldMkLst>
        <pc:spChg chg="mod ord">
          <ac:chgData name="Restrepo,Felipe" userId="S::fel2163218@maricopa.edu::b75f12e2-536c-4746-b91a-77e5f7eb6e51" providerId="AD" clId="Web-{189FBF77-CBAD-C77F-83AA-835F2AB15C5E}" dt="2025-10-29T04:43:16.292" v="27"/>
          <ac:spMkLst>
            <pc:docMk/>
            <pc:sldMk cId="1241404194" sldId="283"/>
            <ac:spMk id="3" creationId="{7BCD9818-AF50-1700-B795-9A8E5137AFAC}"/>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3615476838" sldId="284"/>
        </pc:sldMkLst>
        <pc:spChg chg="mod ord">
          <ac:chgData name="Restrepo,Felipe" userId="S::fel2163218@maricopa.edu::b75f12e2-536c-4746-b91a-77e5f7eb6e51" providerId="AD" clId="Web-{189FBF77-CBAD-C77F-83AA-835F2AB15C5E}" dt="2025-10-29T04:43:16.292" v="27"/>
          <ac:spMkLst>
            <pc:docMk/>
            <pc:sldMk cId="3615476838" sldId="284"/>
            <ac:spMk id="3" creationId="{5B00154C-C27E-9BDC-4F57-039D528EEF2C}"/>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1311462349" sldId="285"/>
        </pc:sldMkLst>
        <pc:spChg chg="mod ord">
          <ac:chgData name="Restrepo,Felipe" userId="S::fel2163218@maricopa.edu::b75f12e2-536c-4746-b91a-77e5f7eb6e51" providerId="AD" clId="Web-{189FBF77-CBAD-C77F-83AA-835F2AB15C5E}" dt="2025-10-29T04:43:16.292" v="27"/>
          <ac:spMkLst>
            <pc:docMk/>
            <pc:sldMk cId="1311462349" sldId="285"/>
            <ac:spMk id="3" creationId="{95CD2732-A02E-940B-718B-84A2096FD5AE}"/>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486119254" sldId="286"/>
        </pc:sldMkLst>
        <pc:spChg chg="mod ord">
          <ac:chgData name="Restrepo,Felipe" userId="S::fel2163218@maricopa.edu::b75f12e2-536c-4746-b91a-77e5f7eb6e51" providerId="AD" clId="Web-{189FBF77-CBAD-C77F-83AA-835F2AB15C5E}" dt="2025-10-29T04:43:16.292" v="27"/>
          <ac:spMkLst>
            <pc:docMk/>
            <pc:sldMk cId="486119254" sldId="286"/>
            <ac:spMk id="3" creationId="{BF1B1D89-FDD1-C567-7B88-31368651623F}"/>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1696567242" sldId="287"/>
        </pc:sldMkLst>
        <pc:spChg chg="mod ord">
          <ac:chgData name="Restrepo,Felipe" userId="S::fel2163218@maricopa.edu::b75f12e2-536c-4746-b91a-77e5f7eb6e51" providerId="AD" clId="Web-{189FBF77-CBAD-C77F-83AA-835F2AB15C5E}" dt="2025-10-29T04:43:16.292" v="27"/>
          <ac:spMkLst>
            <pc:docMk/>
            <pc:sldMk cId="1696567242" sldId="287"/>
            <ac:spMk id="3" creationId="{9DDB20E5-56CD-F439-3A4B-EC3B0D6E9433}"/>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2507112762" sldId="288"/>
        </pc:sldMkLst>
        <pc:spChg chg="mod ord">
          <ac:chgData name="Restrepo,Felipe" userId="S::fel2163218@maricopa.edu::b75f12e2-536c-4746-b91a-77e5f7eb6e51" providerId="AD" clId="Web-{189FBF77-CBAD-C77F-83AA-835F2AB15C5E}" dt="2025-10-29T04:43:16.292" v="27"/>
          <ac:spMkLst>
            <pc:docMk/>
            <pc:sldMk cId="2507112762" sldId="288"/>
            <ac:spMk id="3" creationId="{91D020A5-D535-A8C9-69DE-29B66067241D}"/>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1167148761" sldId="289"/>
        </pc:sldMkLst>
        <pc:spChg chg="mod ord">
          <ac:chgData name="Restrepo,Felipe" userId="S::fel2163218@maricopa.edu::b75f12e2-536c-4746-b91a-77e5f7eb6e51" providerId="AD" clId="Web-{189FBF77-CBAD-C77F-83AA-835F2AB15C5E}" dt="2025-10-29T04:43:16.292" v="27"/>
          <ac:spMkLst>
            <pc:docMk/>
            <pc:sldMk cId="1167148761" sldId="289"/>
            <ac:spMk id="3" creationId="{86D66E5F-9543-DCB8-E620-C5FFE4FD3718}"/>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410895298" sldId="290"/>
        </pc:sldMkLst>
        <pc:spChg chg="mod ord">
          <ac:chgData name="Restrepo,Felipe" userId="S::fel2163218@maricopa.edu::b75f12e2-536c-4746-b91a-77e5f7eb6e51" providerId="AD" clId="Web-{189FBF77-CBAD-C77F-83AA-835F2AB15C5E}" dt="2025-10-29T04:43:16.292" v="27"/>
          <ac:spMkLst>
            <pc:docMk/>
            <pc:sldMk cId="410895298" sldId="290"/>
            <ac:spMk id="3" creationId="{B734C401-F25D-7A5B-12AC-E2FD0DBF1594}"/>
          </ac:spMkLst>
        </pc:spChg>
      </pc:sldChg>
      <pc:sldChg chg="delSp modSp mod modClrScheme delDesignElem chgLayout">
        <pc:chgData name="Restrepo,Felipe" userId="S::fel2163218@maricopa.edu::b75f12e2-536c-4746-b91a-77e5f7eb6e51" providerId="AD" clId="Web-{189FBF77-CBAD-C77F-83AA-835F2AB15C5E}" dt="2025-10-29T04:47:33.778" v="48"/>
        <pc:sldMkLst>
          <pc:docMk/>
          <pc:sldMk cId="2147878397" sldId="291"/>
        </pc:sldMkLst>
        <pc:spChg chg="mod ord">
          <ac:chgData name="Restrepo,Felipe" userId="S::fel2163218@maricopa.edu::b75f12e2-536c-4746-b91a-77e5f7eb6e51" providerId="AD" clId="Web-{189FBF77-CBAD-C77F-83AA-835F2AB15C5E}" dt="2025-10-29T04:43:16.292" v="27"/>
          <ac:spMkLst>
            <pc:docMk/>
            <pc:sldMk cId="2147878397" sldId="291"/>
            <ac:spMk id="3" creationId="{C29B0EAA-43BF-FEFC-2709-E811606DE903}"/>
          </ac:spMkLst>
        </pc:spChg>
      </pc:sldChg>
      <pc:sldChg chg="delSp modSp mod setBg modClrScheme delDesignElem chgLayout">
        <pc:chgData name="Restrepo,Felipe" userId="S::fel2163218@maricopa.edu::b75f12e2-536c-4746-b91a-77e5f7eb6e51" providerId="AD" clId="Web-{189FBF77-CBAD-C77F-83AA-835F2AB15C5E}" dt="2025-10-29T04:47:33.778" v="48"/>
        <pc:sldMkLst>
          <pc:docMk/>
          <pc:sldMk cId="4061953857" sldId="293"/>
        </pc:sldMkLst>
        <pc:spChg chg="mod ord">
          <ac:chgData name="Restrepo,Felipe" userId="S::fel2163218@maricopa.edu::b75f12e2-536c-4746-b91a-77e5f7eb6e51" providerId="AD" clId="Web-{189FBF77-CBAD-C77F-83AA-835F2AB15C5E}" dt="2025-10-29T04:43:16.292" v="27"/>
          <ac:spMkLst>
            <pc:docMk/>
            <pc:sldMk cId="4061953857" sldId="293"/>
            <ac:spMk id="2" creationId="{D2E10E45-2511-BDC9-0BB4-3ED96A689A0F}"/>
          </ac:spMkLst>
        </pc:spChg>
        <pc:spChg chg="mod ord">
          <ac:chgData name="Restrepo,Felipe" userId="S::fel2163218@maricopa.edu::b75f12e2-536c-4746-b91a-77e5f7eb6e51" providerId="AD" clId="Web-{189FBF77-CBAD-C77F-83AA-835F2AB15C5E}" dt="2025-10-29T04:43:16.292" v="27"/>
          <ac:spMkLst>
            <pc:docMk/>
            <pc:sldMk cId="4061953857" sldId="293"/>
            <ac:spMk id="3" creationId="{E7BD2042-E7C1-4A44-223D-7BE220E7496F}"/>
          </ac:spMkLst>
        </pc:spChg>
      </pc:sldChg>
      <pc:sldChg chg="delSp mod setBg modClrScheme delDesignElem chgLayout">
        <pc:chgData name="Restrepo,Felipe" userId="S::fel2163218@maricopa.edu::b75f12e2-536c-4746-b91a-77e5f7eb6e51" providerId="AD" clId="Web-{189FBF77-CBAD-C77F-83AA-835F2AB15C5E}" dt="2025-10-29T04:47:33.778" v="48"/>
        <pc:sldMkLst>
          <pc:docMk/>
          <pc:sldMk cId="4003637764" sldId="295"/>
        </pc:sldMkLst>
      </pc:sldChg>
      <pc:sldChg chg="delSp modSp mod modClrScheme delDesignElem chgLayout">
        <pc:chgData name="Restrepo,Felipe" userId="S::fel2163218@maricopa.edu::b75f12e2-536c-4746-b91a-77e5f7eb6e51" providerId="AD" clId="Web-{189FBF77-CBAD-C77F-83AA-835F2AB15C5E}" dt="2025-10-29T04:47:33.778" v="48"/>
        <pc:sldMkLst>
          <pc:docMk/>
          <pc:sldMk cId="2939660890" sldId="296"/>
        </pc:sldMkLst>
        <pc:spChg chg="mod ord">
          <ac:chgData name="Restrepo,Felipe" userId="S::fel2163218@maricopa.edu::b75f12e2-536c-4746-b91a-77e5f7eb6e51" providerId="AD" clId="Web-{189FBF77-CBAD-C77F-83AA-835F2AB15C5E}" dt="2025-10-29T04:43:16.292" v="27"/>
          <ac:spMkLst>
            <pc:docMk/>
            <pc:sldMk cId="2939660890" sldId="296"/>
            <ac:spMk id="3" creationId="{A9A66F64-A54C-BE2A-062B-C7CAE2C1BE5E}"/>
          </ac:spMkLst>
        </pc:spChg>
      </pc:sldChg>
      <pc:sldChg chg="modSp add mod replId modNotes">
        <pc:chgData name="Restrepo,Felipe" userId="S::fel2163218@maricopa.edu::b75f12e2-536c-4746-b91a-77e5f7eb6e51" providerId="AD" clId="Web-{189FBF77-CBAD-C77F-83AA-835F2AB15C5E}" dt="2025-10-29T05:24:26.866" v="1560" actId="20577"/>
        <pc:sldMkLst>
          <pc:docMk/>
          <pc:sldMk cId="3833795796" sldId="297"/>
        </pc:sldMkLst>
        <pc:spChg chg="mod">
          <ac:chgData name="Restrepo,Felipe" userId="S::fel2163218@maricopa.edu::b75f12e2-536c-4746-b91a-77e5f7eb6e51" providerId="AD" clId="Web-{189FBF77-CBAD-C77F-83AA-835F2AB15C5E}" dt="2025-10-29T05:24:26.866" v="1560" actId="20577"/>
          <ac:spMkLst>
            <pc:docMk/>
            <pc:sldMk cId="3833795796" sldId="297"/>
            <ac:spMk id="3" creationId="{5596CFC2-F1EE-DEDF-F118-0A03BBE27799}"/>
          </ac:spMkLst>
        </pc:spChg>
      </pc:sldChg>
      <pc:sldChg chg="addSp delSp modSp add ord replId">
        <pc:chgData name="Restrepo,Felipe" userId="S::fel2163218@maricopa.edu::b75f12e2-536c-4746-b91a-77e5f7eb6e51" providerId="AD" clId="Web-{189FBF77-CBAD-C77F-83AA-835F2AB15C5E}" dt="2025-10-29T05:03:19.923" v="900" actId="20577"/>
        <pc:sldMkLst>
          <pc:docMk/>
          <pc:sldMk cId="1543033170" sldId="298"/>
        </pc:sldMkLst>
        <pc:spChg chg="mod">
          <ac:chgData name="Restrepo,Felipe" userId="S::fel2163218@maricopa.edu::b75f12e2-536c-4746-b91a-77e5f7eb6e51" providerId="AD" clId="Web-{189FBF77-CBAD-C77F-83AA-835F2AB15C5E}" dt="2025-10-29T05:03:19.923" v="900" actId="20577"/>
          <ac:spMkLst>
            <pc:docMk/>
            <pc:sldMk cId="1543033170" sldId="298"/>
            <ac:spMk id="2" creationId="{6C5AE174-6746-E3EE-83E9-34C9194D2528}"/>
          </ac:spMkLst>
        </pc:spChg>
        <pc:spChg chg="add del mod">
          <ac:chgData name="Restrepo,Felipe" userId="S::fel2163218@maricopa.edu::b75f12e2-536c-4746-b91a-77e5f7eb6e51" providerId="AD" clId="Web-{189FBF77-CBAD-C77F-83AA-835F2AB15C5E}" dt="2025-10-29T05:02:56.266" v="895" actId="20577"/>
          <ac:spMkLst>
            <pc:docMk/>
            <pc:sldMk cId="1543033170" sldId="298"/>
            <ac:spMk id="3" creationId="{4E55A8A1-AD53-686A-5726-5BCDC4479BAD}"/>
          </ac:spMkLst>
        </pc:spChg>
      </pc:sldChg>
      <pc:sldChg chg="add replId">
        <pc:chgData name="Restrepo,Felipe" userId="S::fel2163218@maricopa.edu::b75f12e2-536c-4746-b91a-77e5f7eb6e51" providerId="AD" clId="Web-{189FBF77-CBAD-C77F-83AA-835F2AB15C5E}" dt="2025-10-29T05:03:07.829" v="896"/>
        <pc:sldMkLst>
          <pc:docMk/>
          <pc:sldMk cId="1586436906" sldId="299"/>
        </pc:sldMkLst>
      </pc:sldChg>
      <pc:sldChg chg="addSp delSp modSp add replId">
        <pc:chgData name="Restrepo,Felipe" userId="S::fel2163218@maricopa.edu::b75f12e2-536c-4746-b91a-77e5f7eb6e51" providerId="AD" clId="Web-{189FBF77-CBAD-C77F-83AA-835F2AB15C5E}" dt="2025-10-29T05:13:31.082" v="1394"/>
        <pc:sldMkLst>
          <pc:docMk/>
          <pc:sldMk cId="1559502222" sldId="300"/>
        </pc:sldMkLst>
        <pc:spChg chg="mod">
          <ac:chgData name="Restrepo,Felipe" userId="S::fel2163218@maricopa.edu::b75f12e2-536c-4746-b91a-77e5f7eb6e51" providerId="AD" clId="Web-{189FBF77-CBAD-C77F-83AA-835F2AB15C5E}" dt="2025-10-29T05:06:39.315" v="952" actId="20577"/>
          <ac:spMkLst>
            <pc:docMk/>
            <pc:sldMk cId="1559502222" sldId="300"/>
            <ac:spMk id="2" creationId="{FAF7E3D2-031B-1B9C-BB42-6911139EC9AE}"/>
          </ac:spMkLst>
        </pc:spChg>
        <pc:spChg chg="add mod">
          <ac:chgData name="Restrepo,Felipe" userId="S::fel2163218@maricopa.edu::b75f12e2-536c-4746-b91a-77e5f7eb6e51" providerId="AD" clId="Web-{189FBF77-CBAD-C77F-83AA-835F2AB15C5E}" dt="2025-10-29T05:13:25.363" v="1392" actId="20577"/>
          <ac:spMkLst>
            <pc:docMk/>
            <pc:sldMk cId="1559502222" sldId="300"/>
            <ac:spMk id="5" creationId="{65B1397C-2597-7E8C-4A7D-FF9C39ECF661}"/>
          </ac:spMkLst>
        </pc:spChg>
      </pc:sldChg>
      <pc:sldChg chg="modSp add replId">
        <pc:chgData name="Restrepo,Felipe" userId="S::fel2163218@maricopa.edu::b75f12e2-536c-4746-b91a-77e5f7eb6e51" providerId="AD" clId="Web-{189FBF77-CBAD-C77F-83AA-835F2AB15C5E}" dt="2025-10-29T05:15:21.879" v="1417" actId="20577"/>
        <pc:sldMkLst>
          <pc:docMk/>
          <pc:sldMk cId="3899027640" sldId="301"/>
        </pc:sldMkLst>
        <pc:spChg chg="mod">
          <ac:chgData name="Restrepo,Felipe" userId="S::fel2163218@maricopa.edu::b75f12e2-536c-4746-b91a-77e5f7eb6e51" providerId="AD" clId="Web-{189FBF77-CBAD-C77F-83AA-835F2AB15C5E}" dt="2025-10-29T05:15:21.879" v="1417" actId="20577"/>
          <ac:spMkLst>
            <pc:docMk/>
            <pc:sldMk cId="3899027640" sldId="301"/>
            <ac:spMk id="2" creationId="{F253D783-6FFC-4D22-A7F9-353E60526CA3}"/>
          </ac:spMkLst>
        </pc:spChg>
        <pc:spChg chg="mod">
          <ac:chgData name="Restrepo,Felipe" userId="S::fel2163218@maricopa.edu::b75f12e2-536c-4746-b91a-77e5f7eb6e51" providerId="AD" clId="Web-{189FBF77-CBAD-C77F-83AA-835F2AB15C5E}" dt="2025-10-29T05:13:55.488" v="1415" actId="20577"/>
          <ac:spMkLst>
            <pc:docMk/>
            <pc:sldMk cId="3899027640" sldId="301"/>
            <ac:spMk id="5" creationId="{5618A185-DD78-BFD7-9310-354089FB59A3}"/>
          </ac:spMkLst>
        </pc:spChg>
      </pc:sldChg>
      <pc:sldMasterChg chg="add mod setBg addSldLayout modSldLayout">
        <pc:chgData name="Restrepo,Felipe" userId="S::fel2163218@maricopa.edu::b75f12e2-536c-4746-b91a-77e5f7eb6e51" providerId="AD" clId="Web-{189FBF77-CBAD-C77F-83AA-835F2AB15C5E}" dt="2025-10-29T04:47:33.778" v="48"/>
        <pc:sldMasterMkLst>
          <pc:docMk/>
          <pc:sldMasterMk cId="4016843110" sldId="2147484056"/>
        </pc:sldMasterMkLst>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2271586034" sldId="2147484057"/>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749170539" sldId="2147484058"/>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1781603993" sldId="2147484059"/>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4286968465" sldId="2147484060"/>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2278861045" sldId="2147484061"/>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338368533" sldId="2147484062"/>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829969026" sldId="2147484063"/>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653753585" sldId="2147484064"/>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3922672201" sldId="2147484065"/>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3258752844" sldId="2147484066"/>
          </pc:sldLayoutMkLst>
        </pc:sldLayoutChg>
        <pc:sldLayoutChg chg="add mod replId">
          <pc:chgData name="Restrepo,Felipe" userId="S::fel2163218@maricopa.edu::b75f12e2-536c-4746-b91a-77e5f7eb6e51" providerId="AD" clId="Web-{189FBF77-CBAD-C77F-83AA-835F2AB15C5E}" dt="2025-10-29T04:47:33.778" v="48"/>
          <pc:sldLayoutMkLst>
            <pc:docMk/>
            <pc:sldMasterMk cId="4016843110" sldId="2147484056"/>
            <pc:sldLayoutMk cId="2889824426" sldId="2147484067"/>
          </pc:sldLayoutMkLst>
        </pc:sldLayoutChg>
      </pc:sldMasterChg>
    </pc:docChg>
  </pc:docChgLst>
  <pc:docChgLst>
    <pc:chgData name="Restrepo,Felipe" userId="b75f12e2-536c-4746-b91a-77e5f7eb6e51" providerId="ADAL" clId="{6906C9F5-A252-4979-915D-DF3F6C4B4011}"/>
    <pc:docChg chg="undo custSel addSld delSld modSld sldOrd">
      <pc:chgData name="Restrepo,Felipe" userId="b75f12e2-536c-4746-b91a-77e5f7eb6e51" providerId="ADAL" clId="{6906C9F5-A252-4979-915D-DF3F6C4B4011}" dt="2025-11-21T20:15:26.714" v="22" actId="20577"/>
      <pc:docMkLst>
        <pc:docMk/>
      </pc:docMkLst>
      <pc:sldChg chg="addSp delSp modSp mod modClrScheme chgLayout">
        <pc:chgData name="Restrepo,Felipe" userId="b75f12e2-536c-4746-b91a-77e5f7eb6e51" providerId="ADAL" clId="{6906C9F5-A252-4979-915D-DF3F6C4B4011}" dt="2025-11-21T20:15:26.714" v="22" actId="20577"/>
        <pc:sldMkLst>
          <pc:docMk/>
          <pc:sldMk cId="2963964124" sldId="256"/>
        </pc:sldMkLst>
        <pc:spChg chg="mod">
          <ac:chgData name="Restrepo,Felipe" userId="b75f12e2-536c-4746-b91a-77e5f7eb6e51" providerId="ADAL" clId="{6906C9F5-A252-4979-915D-DF3F6C4B4011}" dt="2025-11-21T20:15:26.714" v="22" actId="20577"/>
          <ac:spMkLst>
            <pc:docMk/>
            <pc:sldMk cId="2963964124" sldId="256"/>
            <ac:spMk id="2" creationId="{58191409-041C-9A9F-3D67-DD08939AB43A}"/>
          </ac:spMkLst>
        </pc:spChg>
        <pc:spChg chg="add del mod ord">
          <ac:chgData name="Restrepo,Felipe" userId="b75f12e2-536c-4746-b91a-77e5f7eb6e51" providerId="ADAL" clId="{6906C9F5-A252-4979-915D-DF3F6C4B4011}" dt="2025-11-21T19:57:21.483" v="3" actId="700"/>
          <ac:spMkLst>
            <pc:docMk/>
            <pc:sldMk cId="2963964124" sldId="256"/>
            <ac:spMk id="3" creationId="{DEAC9F42-6CE4-5CD0-62A1-D7F6056E2780}"/>
          </ac:spMkLst>
        </pc:spChg>
      </pc:sldChg>
      <pc:sldChg chg="modSp mod modClrScheme chgLayout">
        <pc:chgData name="Restrepo,Felipe" userId="b75f12e2-536c-4746-b91a-77e5f7eb6e51" providerId="ADAL" clId="{6906C9F5-A252-4979-915D-DF3F6C4B4011}" dt="2025-11-21T19:59:35.567" v="21" actId="1076"/>
        <pc:sldMkLst>
          <pc:docMk/>
          <pc:sldMk cId="3833795796" sldId="297"/>
        </pc:sldMkLst>
        <pc:spChg chg="mod ord">
          <ac:chgData name="Restrepo,Felipe" userId="b75f12e2-536c-4746-b91a-77e5f7eb6e51" providerId="ADAL" clId="{6906C9F5-A252-4979-915D-DF3F6C4B4011}" dt="2025-11-21T19:59:35.567" v="21" actId="1076"/>
          <ac:spMkLst>
            <pc:docMk/>
            <pc:sldMk cId="3833795796" sldId="297"/>
            <ac:spMk id="2" creationId="{D68640C3-2466-8251-E8E2-939F8B293E3F}"/>
          </ac:spMkLst>
        </pc:spChg>
        <pc:spChg chg="mod ord">
          <ac:chgData name="Restrepo,Felipe" userId="b75f12e2-536c-4746-b91a-77e5f7eb6e51" providerId="ADAL" clId="{6906C9F5-A252-4979-915D-DF3F6C4B4011}" dt="2025-11-21T19:57:45.630" v="6" actId="700"/>
          <ac:spMkLst>
            <pc:docMk/>
            <pc:sldMk cId="3833795796" sldId="297"/>
            <ac:spMk id="3" creationId="{5596CFC2-F1EE-DEDF-F118-0A03BBE27799}"/>
          </ac:spMkLst>
        </pc:spChg>
      </pc:sldChg>
      <pc:sldChg chg="addSp delSp modSp add del mod ord modClrScheme chgLayout">
        <pc:chgData name="Restrepo,Felipe" userId="b75f12e2-536c-4746-b91a-77e5f7eb6e51" providerId="ADAL" clId="{6906C9F5-A252-4979-915D-DF3F6C4B4011}" dt="2025-11-21T19:58:25.952" v="17" actId="2890"/>
        <pc:sldMkLst>
          <pc:docMk/>
          <pc:sldMk cId="2679506184" sldId="302"/>
        </pc:sldMkLst>
        <pc:spChg chg="add del mod ord">
          <ac:chgData name="Restrepo,Felipe" userId="b75f12e2-536c-4746-b91a-77e5f7eb6e51" providerId="ADAL" clId="{6906C9F5-A252-4979-915D-DF3F6C4B4011}" dt="2025-11-21T19:58:25.549" v="15" actId="700"/>
          <ac:spMkLst>
            <pc:docMk/>
            <pc:sldMk cId="2679506184" sldId="302"/>
            <ac:spMk id="2" creationId="{1A0BEA20-A97B-893C-5024-A7D077CD4198}"/>
          </ac:spMkLst>
        </pc:spChg>
        <pc:spChg chg="add del mod ord">
          <ac:chgData name="Restrepo,Felipe" userId="b75f12e2-536c-4746-b91a-77e5f7eb6e51" providerId="ADAL" clId="{6906C9F5-A252-4979-915D-DF3F6C4B4011}" dt="2025-11-21T19:58:25.549" v="15" actId="700"/>
          <ac:spMkLst>
            <pc:docMk/>
            <pc:sldMk cId="2679506184" sldId="302"/>
            <ac:spMk id="3" creationId="{916206C0-20FC-012B-6AAB-AD955ECE1011}"/>
          </ac:spMkLst>
        </pc:spChg>
        <pc:spChg chg="add mod">
          <ac:chgData name="Restrepo,Felipe" userId="b75f12e2-536c-4746-b91a-77e5f7eb6e51" providerId="ADAL" clId="{6906C9F5-A252-4979-915D-DF3F6C4B4011}" dt="2025-11-21T19:58:25.128" v="13"/>
          <ac:spMkLst>
            <pc:docMk/>
            <pc:sldMk cId="2679506184" sldId="302"/>
            <ac:spMk id="4" creationId="{E4A5EB8C-0DF1-B8F8-863F-37FC8FB60F80}"/>
          </ac:spMkLst>
        </pc:spChg>
        <pc:spChg chg="add mod">
          <ac:chgData name="Restrepo,Felipe" userId="b75f12e2-536c-4746-b91a-77e5f7eb6e51" providerId="ADAL" clId="{6906C9F5-A252-4979-915D-DF3F6C4B4011}" dt="2025-11-21T19:58:25.128" v="13"/>
          <ac:spMkLst>
            <pc:docMk/>
            <pc:sldMk cId="2679506184" sldId="302"/>
            <ac:spMk id="5" creationId="{31D6292A-152F-0EB1-80D3-365ABB54492D}"/>
          </ac:spMkLst>
        </pc:spChg>
      </pc:sldChg>
    </pc:docChg>
  </pc:docChgLst>
  <pc:docChgLst>
    <pc:chgData name="Restrepo,Felipe" userId="S::fel2163218@maricopa.edu::b75f12e2-536c-4746-b91a-77e5f7eb6e51" providerId="AD" clId="Web-{06462A4B-8D1E-62AD-6B94-1B89914D3BF1}"/>
    <pc:docChg chg="modSld">
      <pc:chgData name="Restrepo,Felipe" userId="S::fel2163218@maricopa.edu::b75f12e2-536c-4746-b91a-77e5f7eb6e51" providerId="AD" clId="Web-{06462A4B-8D1E-62AD-6B94-1B89914D3BF1}" dt="2025-10-29T16:37:26.160" v="82" actId="20577"/>
      <pc:docMkLst>
        <pc:docMk/>
      </pc:docMkLst>
      <pc:sldChg chg="modSp">
        <pc:chgData name="Restrepo,Felipe" userId="S::fel2163218@maricopa.edu::b75f12e2-536c-4746-b91a-77e5f7eb6e51" providerId="AD" clId="Web-{06462A4B-8D1E-62AD-6B94-1B89914D3BF1}" dt="2025-10-29T16:31:05.543" v="6" actId="20577"/>
        <pc:sldMkLst>
          <pc:docMk/>
          <pc:sldMk cId="2963964124" sldId="256"/>
        </pc:sldMkLst>
        <pc:spChg chg="mod">
          <ac:chgData name="Restrepo,Felipe" userId="S::fel2163218@maricopa.edu::b75f12e2-536c-4746-b91a-77e5f7eb6e51" providerId="AD" clId="Web-{06462A4B-8D1E-62AD-6B94-1B89914D3BF1}" dt="2025-10-29T16:31:05.543" v="6" actId="20577"/>
          <ac:spMkLst>
            <pc:docMk/>
            <pc:sldMk cId="2963964124" sldId="256"/>
            <ac:spMk id="2" creationId="{58191409-041C-9A9F-3D67-DD08939AB43A}"/>
          </ac:spMkLst>
        </pc:spChg>
      </pc:sldChg>
      <pc:sldChg chg="modSp">
        <pc:chgData name="Restrepo,Felipe" userId="S::fel2163218@maricopa.edu::b75f12e2-536c-4746-b91a-77e5f7eb6e51" providerId="AD" clId="Web-{06462A4B-8D1E-62AD-6B94-1B89914D3BF1}" dt="2025-10-29T16:37:26.160" v="82" actId="20577"/>
        <pc:sldMkLst>
          <pc:docMk/>
          <pc:sldMk cId="4061953857" sldId="293"/>
        </pc:sldMkLst>
        <pc:spChg chg="mod">
          <ac:chgData name="Restrepo,Felipe" userId="S::fel2163218@maricopa.edu::b75f12e2-536c-4746-b91a-77e5f7eb6e51" providerId="AD" clId="Web-{06462A4B-8D1E-62AD-6B94-1B89914D3BF1}" dt="2025-10-29T16:37:26.160" v="82" actId="20577"/>
          <ac:spMkLst>
            <pc:docMk/>
            <pc:sldMk cId="4061953857" sldId="293"/>
            <ac:spMk id="3" creationId="{E7BD2042-E7C1-4A44-223D-7BE220E7496F}"/>
          </ac:spMkLst>
        </pc:spChg>
      </pc:sldChg>
    </pc:docChg>
  </pc:docChgLst>
  <pc:docChgLst>
    <pc:chgData name="Restrepo,Felipe" userId="S::fel2163218@maricopa.edu::b75f12e2-536c-4746-b91a-77e5f7eb6e51" providerId="AD" clId="Web-{94885296-0C81-3CDD-796E-5B31F43244C1}"/>
    <pc:docChg chg="modSld">
      <pc:chgData name="Restrepo,Felipe" userId="S::fel2163218@maricopa.edu::b75f12e2-536c-4746-b91a-77e5f7eb6e51" providerId="AD" clId="Web-{94885296-0C81-3CDD-796E-5B31F43244C1}" dt="2025-10-29T16:50:12.971" v="107" actId="20577"/>
      <pc:docMkLst>
        <pc:docMk/>
      </pc:docMkLst>
      <pc:sldChg chg="modSp">
        <pc:chgData name="Restrepo,Felipe" userId="S::fel2163218@maricopa.edu::b75f12e2-536c-4746-b91a-77e5f7eb6e51" providerId="AD" clId="Web-{94885296-0C81-3CDD-796E-5B31F43244C1}" dt="2025-10-29T16:50:12.971" v="107" actId="20577"/>
        <pc:sldMkLst>
          <pc:docMk/>
          <pc:sldMk cId="1559502222" sldId="300"/>
        </pc:sldMkLst>
        <pc:spChg chg="mod">
          <ac:chgData name="Restrepo,Felipe" userId="S::fel2163218@maricopa.edu::b75f12e2-536c-4746-b91a-77e5f7eb6e51" providerId="AD" clId="Web-{94885296-0C81-3CDD-796E-5B31F43244C1}" dt="2025-10-29T16:50:12.971" v="107" actId="20577"/>
          <ac:spMkLst>
            <pc:docMk/>
            <pc:sldMk cId="1559502222" sldId="300"/>
            <ac:spMk id="5" creationId="{65B1397C-2597-7E8C-4A7D-FF9C39ECF66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AD95E1-DAB6-4091-8EAD-397CF8A64E80}" type="datetimeFigureOut">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76486-9CA9-4B07-91B7-E958CDC0541D}" type="slidenum">
              <a:t>‹#›</a:t>
            </a:fld>
            <a:endParaRPr lang="en-US"/>
          </a:p>
        </p:txBody>
      </p:sp>
    </p:spTree>
    <p:extLst>
      <p:ext uri="{BB962C8B-B14F-4D97-AF65-F5344CB8AC3E}">
        <p14:creationId xmlns:p14="http://schemas.microsoft.com/office/powerpoint/2010/main" val="3135847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2B3A31"/>
                </a:solidFill>
              </a:rPr>
              <a:t>Project showcases evidence of the consequences produced by use and development of AI, and solutions for mitigating these consequences </a:t>
            </a:r>
            <a:endParaRPr lang="en-US">
              <a:solidFill>
                <a:srgbClr val="2B3A31"/>
              </a:solidFill>
              <a:ea typeface="Calibri"/>
              <a:cs typeface="Calibri"/>
            </a:endParaRPr>
          </a:p>
        </p:txBody>
      </p:sp>
      <p:sp>
        <p:nvSpPr>
          <p:cNvPr id="4" name="Slide Number Placeholder 3"/>
          <p:cNvSpPr>
            <a:spLocks noGrp="1"/>
          </p:cNvSpPr>
          <p:nvPr>
            <p:ph type="sldNum" sz="quarter" idx="5"/>
          </p:nvPr>
        </p:nvSpPr>
        <p:spPr/>
        <p:txBody>
          <a:bodyPr/>
          <a:lstStyle/>
          <a:p>
            <a:fld id="{F1B76486-9CA9-4B07-91B7-E958CDC0541D}" type="slidenum">
              <a:t>2</a:t>
            </a:fld>
            <a:endParaRPr lang="en-US"/>
          </a:p>
        </p:txBody>
      </p:sp>
    </p:spTree>
    <p:extLst>
      <p:ext uri="{BB962C8B-B14F-4D97-AF65-F5344CB8AC3E}">
        <p14:creationId xmlns:p14="http://schemas.microsoft.com/office/powerpoint/2010/main" val="497273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B3A824-1A51-4B26-AD58-A6D8E14F6C04}" type="datetimeFigureOut">
              <a:rPr lang="en-US" dirty="0"/>
              <a:t>11/21/2025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271586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D162C4-EDD9-4389-A98B-B87ECEA2A816}" type="datetimeFigureOut">
              <a:rPr lang="en-US" dirty="0"/>
              <a:t>11/21/2025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749170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11/21/2025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1781603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p>
        </p:txBody>
      </p:sp>
      <p:sp>
        <p:nvSpPr>
          <p:cNvPr id="3" name="Content Placeholder 2"/>
          <p:cNvSpPr>
            <a:spLocks noGrp="1"/>
          </p:cNvSpPr>
          <p:nvPr>
            <p:ph sz="half" idx="1"/>
          </p:nvPr>
        </p:nvSpPr>
        <p:spPr>
          <a:xfrm>
            <a:off x="2605374" y="2052116"/>
            <a:ext cx="3891960" cy="39978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6636" y="2052114"/>
            <a:ext cx="3894222" cy="399782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954B2F-12DE-47F5-8894-472B206D2E1E}" type="datetimeFigureOut">
              <a:rPr lang="en-US" dirty="0"/>
              <a:t>11/21/2025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286968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30E46F-7819-4ACF-B48B-48222C2ACC88}" type="datetimeFigureOut">
              <a:rPr lang="en-US" dirty="0"/>
              <a:t>11/21/2025</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278861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AF3416-4057-4DAA-829D-4CA07428D088}" type="datetimeFigureOut">
              <a:rPr lang="en-US" dirty="0"/>
              <a:t>11/21/2025</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38368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11/21/2025</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829969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120154" y="805818"/>
            <a:ext cx="5446278" cy="52441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11/21/2025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65375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11/21/2025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922672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57E33E-8B18-4087-B112-809917729534}" type="datetimeFigureOut">
              <a:rPr lang="en-US" dirty="0"/>
              <a:t>11/21/2025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3258752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FFE419-2371-464F-8239-3959401C3561}" type="datetimeFigureOut">
              <a:rPr lang="en-US" dirty="0"/>
              <a:t>11/21/2025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spTree>
    <p:extLst>
      <p:ext uri="{BB962C8B-B14F-4D97-AF65-F5344CB8AC3E}">
        <p14:creationId xmlns:p14="http://schemas.microsoft.com/office/powerpoint/2010/main" val="2889824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Eigth level</a:t>
            </a:r>
          </a:p>
          <a:p>
            <a:pPr lvl="8"/>
            <a:r>
              <a:rPr lang="en-US"/>
              <a:t>Ninth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11/21/2025</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16843110"/>
      </p:ext>
    </p:extLst>
  </p:cSld>
  <p:clrMap bg1="dk1" tx1="lt1" bg2="dk2" tx2="lt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hyperlink" Target="https://mlco2.github.io/impact/#co2eq"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wunderground.com/calendar/us/az/phoenix/KPHX/date/2025-3"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FelipeRestrepo101/HomeEnergySources" TargetMode="External"/><Relationship Id="rId2" Type="http://schemas.openxmlformats.org/officeDocument/2006/relationships/hyperlink" Target="https://feliperestrepo101.shinyapps.io/shinyproject/" TargetMode="Externa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www.eia.gov/opendata/browser/" TargetMode="External"/><Relationship Id="rId2" Type="http://schemas.openxmlformats.org/officeDocument/2006/relationships/hyperlink" Target="https://www.eia.gov/electricity/gridmonitor/dashboard/electric_overview/US48/US48" TargetMode="External"/><Relationship Id="rId1" Type="http://schemas.openxmlformats.org/officeDocument/2006/relationships/slideLayout" Target="../slideLayouts/slideLayout6.xml"/><Relationship Id="rId6" Type="http://schemas.openxmlformats.org/officeDocument/2006/relationships/hyperlink" Target="https://catalog.data.gov/dataset/u-s-electric-utility-companies-and-rates-look-up-by-zipcode-2023" TargetMode="External"/><Relationship Id="rId5" Type="http://schemas.openxmlformats.org/officeDocument/2006/relationships/hyperlink" Target="https://www.eia.gov/consumption/residential/data/2020/state/pdf/ce5.3.st.pdf" TargetMode="External"/><Relationship Id="rId4" Type="http://schemas.openxmlformats.org/officeDocument/2006/relationships/hyperlink" Target="https://www.eia.gov/consumption/residential/data/2020/index.php?view=state#ce"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arcgis.com/apps/InformationLookup/index.html?appid=db6e5122fa8245f78f3b4d7b3f474c62" TargetMode="External"/><Relationship Id="rId2" Type="http://schemas.openxmlformats.org/officeDocument/2006/relationships/hyperlink" Target="https://www.wunderground.com/calendar/us/az/phoenix/KPHX/date/2025-3" TargetMode="External"/><Relationship Id="rId1" Type="http://schemas.openxmlformats.org/officeDocument/2006/relationships/slideLayout" Target="../slideLayouts/slideLayout6.xml"/><Relationship Id="rId5" Type="http://schemas.openxmlformats.org/officeDocument/2006/relationships/hyperlink" Target="https://www.eia.gov/electricity/data/eia861/" TargetMode="External"/><Relationship Id="rId4" Type="http://schemas.openxmlformats.org/officeDocument/2006/relationships/hyperlink" Target="https://www.epa.gov/egrid/power-profil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58191409-041C-9A9F-3D67-DD08939AB43A}"/>
              </a:ext>
            </a:extLst>
          </p:cNvPr>
          <p:cNvSpPr txBox="1"/>
          <p:nvPr/>
        </p:nvSpPr>
        <p:spPr>
          <a:xfrm>
            <a:off x="2221757" y="1472112"/>
            <a:ext cx="9295444" cy="4528457"/>
          </a:xfrm>
          <a:prstGeom prst="rect">
            <a:avLst/>
          </a:prstGeom>
        </p:spPr>
        <p:txBody>
          <a:bodyPr vert="horz" lIns="91440" tIns="45720" rIns="91440" bIns="45720" rtlCol="0"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4500" dirty="0">
                <a:solidFill>
                  <a:schemeClr val="tx2"/>
                </a:solidFill>
                <a:latin typeface="+mj-lt"/>
                <a:ea typeface="+mj-ea"/>
                <a:cs typeface="Arial"/>
              </a:rPr>
              <a:t>Responsible AI </a:t>
            </a:r>
            <a:br>
              <a:rPr lang="en-US" sz="4500" b="0" i="0" kern="1200" dirty="0">
                <a:latin typeface="+mj-lt"/>
                <a:ea typeface="+mj-ea"/>
                <a:cs typeface="+mj-cs"/>
              </a:rPr>
            </a:br>
            <a:br>
              <a:rPr lang="en-US" sz="4500" b="0" i="0" kern="1200" dirty="0">
                <a:latin typeface="+mj-lt"/>
                <a:ea typeface="+mj-ea"/>
                <a:cs typeface="+mj-cs"/>
              </a:rPr>
            </a:br>
            <a:r>
              <a:rPr lang="en-US" sz="4500" b="0" i="0" kern="1200" dirty="0">
                <a:solidFill>
                  <a:schemeClr val="tx2"/>
                </a:solidFill>
                <a:latin typeface="+mj-lt"/>
                <a:ea typeface="+mj-ea"/>
                <a:cs typeface="+mj-cs"/>
              </a:rPr>
              <a:t>Course: </a:t>
            </a:r>
            <a:r>
              <a:rPr lang="en-US" sz="4500" dirty="0">
                <a:solidFill>
                  <a:schemeClr val="tx2"/>
                </a:solidFill>
                <a:latin typeface="+mj-lt"/>
                <a:ea typeface="+mj-ea"/>
                <a:cs typeface="+mj-cs"/>
              </a:rPr>
              <a:t>CIS475(Emerging Trends)</a:t>
            </a:r>
            <a:br>
              <a:rPr lang="en-US" sz="4500" b="0" i="0" kern="1200" dirty="0">
                <a:latin typeface="+mj-lt"/>
                <a:ea typeface="+mj-ea"/>
                <a:cs typeface="+mj-cs"/>
              </a:rPr>
            </a:br>
            <a:r>
              <a:rPr lang="en-US" sz="4500" b="0" i="0" kern="1200" dirty="0">
                <a:solidFill>
                  <a:schemeClr val="tx2"/>
                </a:solidFill>
                <a:latin typeface="+mj-lt"/>
                <a:ea typeface="+mj-ea"/>
                <a:cs typeface="+mj-cs"/>
              </a:rPr>
              <a:t>Advisor: </a:t>
            </a:r>
            <a:r>
              <a:rPr lang="en-US" sz="4500" dirty="0">
                <a:solidFill>
                  <a:schemeClr val="tx2"/>
                </a:solidFill>
                <a:latin typeface="+mj-lt"/>
                <a:ea typeface="+mj-ea"/>
                <a:cs typeface="+mj-cs"/>
              </a:rPr>
              <a:t>Brad Olsen</a:t>
            </a:r>
            <a:br>
              <a:rPr lang="en-US" sz="4500" b="0" i="0" kern="1200" dirty="0">
                <a:latin typeface="+mj-lt"/>
                <a:ea typeface="+mj-ea"/>
                <a:cs typeface="+mj-cs"/>
              </a:rPr>
            </a:br>
            <a:r>
              <a:rPr lang="en-US" sz="4500" b="0" i="0" kern="1200" dirty="0">
                <a:solidFill>
                  <a:schemeClr val="tx2"/>
                </a:solidFill>
                <a:latin typeface="+mj-lt"/>
                <a:ea typeface="+mj-ea"/>
                <a:cs typeface="+mj-cs"/>
              </a:rPr>
              <a:t>Date: </a:t>
            </a:r>
            <a:r>
              <a:rPr lang="en-US" sz="4500" dirty="0">
                <a:solidFill>
                  <a:schemeClr val="tx2"/>
                </a:solidFill>
                <a:latin typeface="+mj-lt"/>
                <a:ea typeface="+mj-ea"/>
                <a:cs typeface="+mj-cs"/>
              </a:rPr>
              <a:t>10/28/2025</a:t>
            </a:r>
            <a:endParaRPr lang="en-US" sz="4500" b="0" i="0" kern="1200" dirty="0">
              <a:solidFill>
                <a:schemeClr val="tx2"/>
              </a:solidFill>
              <a:latin typeface="+mj-lt"/>
              <a:ea typeface="+mj-ea"/>
              <a:cs typeface="+mj-cs"/>
            </a:endParaRPr>
          </a:p>
        </p:txBody>
      </p:sp>
    </p:spTree>
    <p:extLst>
      <p:ext uri="{BB962C8B-B14F-4D97-AF65-F5344CB8AC3E}">
        <p14:creationId xmlns:p14="http://schemas.microsoft.com/office/powerpoint/2010/main" val="2963964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7B973-91A2-D7E7-ED1C-1FCA8E751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640C3-2466-8251-E8E2-939F8B293E3F}"/>
              </a:ext>
            </a:extLst>
          </p:cNvPr>
          <p:cNvSpPr>
            <a:spLocks noGrp="1"/>
          </p:cNvSpPr>
          <p:nvPr>
            <p:ph type="title"/>
          </p:nvPr>
        </p:nvSpPr>
        <p:spPr>
          <a:xfrm>
            <a:off x="1518412" y="1201723"/>
            <a:ext cx="2812177" cy="4454554"/>
          </a:xfrm>
        </p:spPr>
        <p:txBody>
          <a:bodyPr anchor="ctr">
            <a:normAutofit/>
          </a:bodyPr>
          <a:lstStyle/>
          <a:p>
            <a:r>
              <a:rPr lang="en-US" sz="3200">
                <a:sym typeface="DM Sans Medium"/>
              </a:rPr>
              <a:t>Project Statement</a:t>
            </a:r>
            <a:endParaRPr lang="en-US" sz="3200">
              <a:cs typeface="Arial"/>
            </a:endParaRPr>
          </a:p>
        </p:txBody>
      </p:sp>
      <p:sp>
        <p:nvSpPr>
          <p:cNvPr id="3" name="Content Placeholder 2">
            <a:extLst>
              <a:ext uri="{FF2B5EF4-FFF2-40B4-BE49-F238E27FC236}">
                <a16:creationId xmlns:a16="http://schemas.microsoft.com/office/drawing/2014/main" id="{5596CFC2-F1EE-DEDF-F118-0A03BBE27799}"/>
              </a:ext>
            </a:extLst>
          </p:cNvPr>
          <p:cNvSpPr>
            <a:spLocks noGrp="1"/>
          </p:cNvSpPr>
          <p:nvPr>
            <p:ph idx="1"/>
          </p:nvPr>
        </p:nvSpPr>
        <p:spPr>
          <a:xfrm>
            <a:off x="4975045" y="1201723"/>
            <a:ext cx="5595093" cy="4454554"/>
          </a:xfrm>
        </p:spPr>
        <p:txBody>
          <a:bodyPr anchor="ctr">
            <a:normAutofit/>
          </a:bodyPr>
          <a:lstStyle/>
          <a:p>
            <a:pPr marL="344170" indent="-337820"/>
            <a:r>
              <a:rPr lang="en-US" sz="1800">
                <a:cs typeface="Arial" panose="020B0604020202020204"/>
              </a:rPr>
              <a:t>Project showcases evidence of the consequences of AI, and solutions.</a:t>
            </a:r>
          </a:p>
          <a:p>
            <a:pPr marL="344170" indent="-337820"/>
            <a:endParaRPr lang="en-US" sz="1800">
              <a:cs typeface="Arial" panose="020B0604020202020204"/>
            </a:endParaRPr>
          </a:p>
        </p:txBody>
      </p:sp>
    </p:spTree>
    <p:extLst>
      <p:ext uri="{BB962C8B-B14F-4D97-AF65-F5344CB8AC3E}">
        <p14:creationId xmlns:p14="http://schemas.microsoft.com/office/powerpoint/2010/main" val="3833795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2480-DFDE-E0CB-046A-CFC996FACB05}"/>
              </a:ext>
            </a:extLst>
          </p:cNvPr>
          <p:cNvSpPr>
            <a:spLocks noGrp="1"/>
          </p:cNvSpPr>
          <p:nvPr>
            <p:ph type="title"/>
          </p:nvPr>
        </p:nvSpPr>
        <p:spPr>
          <a:xfrm>
            <a:off x="1518412" y="1201723"/>
            <a:ext cx="2812177" cy="4454554"/>
          </a:xfrm>
        </p:spPr>
        <p:txBody>
          <a:bodyPr anchor="ctr">
            <a:normAutofit/>
          </a:bodyPr>
          <a:lstStyle/>
          <a:p>
            <a:r>
              <a:rPr lang="en-US" sz="3200">
                <a:sym typeface="DM Sans Medium"/>
              </a:rPr>
              <a:t>Purpose</a:t>
            </a:r>
            <a:endParaRPr lang="en-US" sz="3200"/>
          </a:p>
        </p:txBody>
      </p:sp>
      <p:sp>
        <p:nvSpPr>
          <p:cNvPr id="3" name="Content Placeholder 2">
            <a:extLst>
              <a:ext uri="{FF2B5EF4-FFF2-40B4-BE49-F238E27FC236}">
                <a16:creationId xmlns:a16="http://schemas.microsoft.com/office/drawing/2014/main" id="{2F14BC94-7E12-99D7-4519-15EAD4CF3A0B}"/>
              </a:ext>
            </a:extLst>
          </p:cNvPr>
          <p:cNvSpPr>
            <a:spLocks noGrp="1"/>
          </p:cNvSpPr>
          <p:nvPr>
            <p:ph idx="1"/>
          </p:nvPr>
        </p:nvSpPr>
        <p:spPr>
          <a:xfrm>
            <a:off x="4975045" y="1201723"/>
            <a:ext cx="5595093" cy="4454554"/>
          </a:xfrm>
        </p:spPr>
        <p:txBody>
          <a:bodyPr vert="horz" lIns="91440" tIns="45720" rIns="91440" bIns="45720" rtlCol="0" anchor="ctr">
            <a:normAutofit/>
          </a:bodyPr>
          <a:lstStyle/>
          <a:p>
            <a:pPr marL="285750" indent="-285750"/>
            <a:r>
              <a:rPr lang="en-US" sz="1800" dirty="0">
                <a:cs typeface="Arial"/>
              </a:rPr>
              <a:t>To influence people's to be more thoughtful when using AI</a:t>
            </a:r>
          </a:p>
          <a:p>
            <a:pPr marL="344170" indent="-337820"/>
            <a:endParaRPr lang="en-US" sz="1800" dirty="0">
              <a:cs typeface="Arial"/>
            </a:endParaRPr>
          </a:p>
          <a:p>
            <a:pPr marL="344170" indent="-337820">
              <a:buClr>
                <a:srgbClr val="F98657"/>
              </a:buClr>
            </a:pPr>
            <a:endParaRPr lang="en-US" sz="1800" dirty="0">
              <a:cs typeface="Arial"/>
            </a:endParaRPr>
          </a:p>
        </p:txBody>
      </p:sp>
    </p:spTree>
    <p:extLst>
      <p:ext uri="{BB962C8B-B14F-4D97-AF65-F5344CB8AC3E}">
        <p14:creationId xmlns:p14="http://schemas.microsoft.com/office/powerpoint/2010/main" val="1437499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2CBD-2153-82F1-9B70-7964CFFCA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10E45-2511-BDC9-0BB4-3ED96A689A0F}"/>
              </a:ext>
            </a:extLst>
          </p:cNvPr>
          <p:cNvSpPr>
            <a:spLocks noGrp="1"/>
          </p:cNvSpPr>
          <p:nvPr>
            <p:ph type="title"/>
          </p:nvPr>
        </p:nvSpPr>
        <p:spPr>
          <a:xfrm>
            <a:off x="1518412" y="1201723"/>
            <a:ext cx="2812177" cy="4454554"/>
          </a:xfrm>
        </p:spPr>
        <p:txBody>
          <a:bodyPr anchor="ctr">
            <a:normAutofit/>
          </a:bodyPr>
          <a:lstStyle/>
          <a:p>
            <a:r>
              <a:rPr lang="en-US" sz="3200">
                <a:cs typeface="Arial"/>
              </a:rPr>
              <a:t>Reasoning</a:t>
            </a:r>
          </a:p>
        </p:txBody>
      </p:sp>
      <p:sp>
        <p:nvSpPr>
          <p:cNvPr id="3" name="Content Placeholder 2">
            <a:extLst>
              <a:ext uri="{FF2B5EF4-FFF2-40B4-BE49-F238E27FC236}">
                <a16:creationId xmlns:a16="http://schemas.microsoft.com/office/drawing/2014/main" id="{E7BD2042-E7C1-4A44-223D-7BE220E7496F}"/>
              </a:ext>
            </a:extLst>
          </p:cNvPr>
          <p:cNvSpPr>
            <a:spLocks noGrp="1"/>
          </p:cNvSpPr>
          <p:nvPr>
            <p:ph idx="1"/>
          </p:nvPr>
        </p:nvSpPr>
        <p:spPr>
          <a:xfrm>
            <a:off x="5020949" y="1332904"/>
            <a:ext cx="5595093" cy="4823849"/>
          </a:xfrm>
        </p:spPr>
        <p:txBody>
          <a:bodyPr vert="horz" lIns="91440" tIns="45720" rIns="91440" bIns="45720" rtlCol="0" anchor="t">
            <a:noAutofit/>
          </a:bodyPr>
          <a:lstStyle/>
          <a:p>
            <a:pPr marL="344170" indent="-344170"/>
            <a:r>
              <a:rPr lang="en-US" sz="1600">
                <a:solidFill>
                  <a:srgbClr val="FFFFFF"/>
                </a:solidFill>
                <a:cs typeface="Arial" panose="020B0604020202020204"/>
              </a:rPr>
              <a:t>Large data centers can consume up to 5 million gallons per day. </a:t>
            </a:r>
            <a:r>
              <a:rPr lang="en-US" sz="1600">
                <a:solidFill>
                  <a:schemeClr val="tx1">
                    <a:lumMod val="65000"/>
                  </a:schemeClr>
                </a:solidFill>
                <a:cs typeface="Arial" panose="020B0604020202020204"/>
              </a:rPr>
              <a:t>("Yañez-</a:t>
            </a:r>
            <a:r>
              <a:rPr lang="en-US" sz="1600" err="1">
                <a:solidFill>
                  <a:schemeClr val="tx1">
                    <a:lumMod val="65000"/>
                  </a:schemeClr>
                </a:solidFill>
                <a:cs typeface="Arial" panose="020B0604020202020204"/>
              </a:rPr>
              <a:t>Barnuevo</a:t>
            </a:r>
            <a:r>
              <a:rPr lang="en-US" sz="1600">
                <a:solidFill>
                  <a:schemeClr val="tx1">
                    <a:lumMod val="65000"/>
                  </a:schemeClr>
                </a:solidFill>
                <a:cs typeface="Arial" panose="020B0604020202020204"/>
              </a:rPr>
              <a:t>", 2025)</a:t>
            </a:r>
            <a:endParaRPr lang="en-US">
              <a:solidFill>
                <a:schemeClr val="tx1">
                  <a:lumMod val="65000"/>
                </a:schemeClr>
              </a:solidFill>
              <a:cs typeface="Arial" panose="020B0604020202020204"/>
            </a:endParaRPr>
          </a:p>
          <a:p>
            <a:pPr marL="344170" indent="-344170"/>
            <a:r>
              <a:rPr lang="en-US" sz="1600">
                <a:cs typeface="Arial" panose="020B0604020202020204"/>
              </a:rPr>
              <a:t>With larger and new AI-focused data centers, water consumption is increasing alongside energy usage and carbon emissions. </a:t>
            </a:r>
            <a:r>
              <a:rPr lang="en-US" sz="1600">
                <a:solidFill>
                  <a:schemeClr val="tx1">
                    <a:lumMod val="65000"/>
                  </a:schemeClr>
                </a:solidFill>
                <a:cs typeface="Arial" panose="020B0604020202020204"/>
              </a:rPr>
              <a:t>("Yañez-</a:t>
            </a:r>
            <a:r>
              <a:rPr lang="en-US" sz="1600" err="1">
                <a:solidFill>
                  <a:schemeClr val="tx1">
                    <a:lumMod val="65000"/>
                  </a:schemeClr>
                </a:solidFill>
                <a:cs typeface="Arial" panose="020B0604020202020204"/>
              </a:rPr>
              <a:t>Barnuevo</a:t>
            </a:r>
            <a:r>
              <a:rPr lang="en-US" sz="1600">
                <a:solidFill>
                  <a:schemeClr val="tx1">
                    <a:lumMod val="65000"/>
                  </a:schemeClr>
                </a:solidFill>
                <a:cs typeface="Arial" panose="020B0604020202020204"/>
              </a:rPr>
              <a:t>", 2025)</a:t>
            </a:r>
            <a:endParaRPr lang="en-US">
              <a:solidFill>
                <a:schemeClr val="tx1">
                  <a:lumMod val="65000"/>
                </a:schemeClr>
              </a:solidFill>
              <a:cs typeface="Arial"/>
            </a:endParaRPr>
          </a:p>
          <a:p>
            <a:pPr marL="285750" indent="-285750">
              <a:buClr>
                <a:srgbClr val="F98657"/>
              </a:buClr>
            </a:pPr>
            <a:r>
              <a:rPr lang="en-US" sz="1600">
                <a:solidFill>
                  <a:srgbClr val="FFFFFF"/>
                </a:solidFill>
                <a:latin typeface="Arial"/>
                <a:cs typeface="Arial" panose="020B0604020202020204"/>
              </a:rPr>
              <a:t>By 2030, data centers could account for as much as 11% of U.S. power demand — up from 3%</a:t>
            </a:r>
            <a:r>
              <a:rPr lang="en-US" sz="1600">
                <a:cs typeface="Arial" panose="020B0604020202020204"/>
              </a:rPr>
              <a:t> </a:t>
            </a:r>
            <a:r>
              <a:rPr lang="en-US" sz="1600">
                <a:solidFill>
                  <a:schemeClr val="tx1">
                    <a:lumMod val="65000"/>
                  </a:schemeClr>
                </a:solidFill>
                <a:cs typeface="Arial" panose="020B0604020202020204"/>
              </a:rPr>
              <a:t>("LA Times" 2024) </a:t>
            </a:r>
          </a:p>
          <a:p>
            <a:pPr marL="285750" indent="-285750">
              <a:buClr>
                <a:srgbClr val="F98657"/>
              </a:buClr>
            </a:pPr>
            <a:r>
              <a:rPr lang="en-US" sz="1600">
                <a:solidFill>
                  <a:srgbClr val="FFFFFF"/>
                </a:solidFill>
                <a:cs typeface="Arial" panose="020B0604020202020204"/>
              </a:rPr>
              <a:t>Power Usage during certain times of day or weather conditions can create different impacts on our environmental footprint. </a:t>
            </a:r>
            <a:r>
              <a:rPr lang="en-US" sz="1600">
                <a:solidFill>
                  <a:schemeClr val="tx1">
                    <a:lumMod val="65000"/>
                  </a:schemeClr>
                </a:solidFill>
                <a:cs typeface="Arial" panose="020B0604020202020204"/>
              </a:rPr>
              <a:t>("Carbon Impact of Electric Vehicle Charging," 2024) </a:t>
            </a:r>
          </a:p>
          <a:p>
            <a:pPr marL="0" indent="0">
              <a:buNone/>
            </a:pPr>
            <a:endParaRPr lang="en-US" sz="1200">
              <a:cs typeface="Arial" panose="020B0604020202020204"/>
            </a:endParaRPr>
          </a:p>
          <a:p>
            <a:pPr marL="0" indent="0">
              <a:buClr>
                <a:srgbClr val="F98657"/>
              </a:buClr>
              <a:buNone/>
            </a:pPr>
            <a:endParaRPr lang="en-US" sz="1800">
              <a:cs typeface="Arial" panose="020B0604020202020204"/>
            </a:endParaRPr>
          </a:p>
          <a:p>
            <a:pPr marL="344170" indent="-337820">
              <a:buClr>
                <a:srgbClr val="F98657"/>
              </a:buClr>
            </a:pPr>
            <a:endParaRPr lang="en-US" sz="1800">
              <a:cs typeface="Arial" panose="020B0604020202020204"/>
            </a:endParaRPr>
          </a:p>
          <a:p>
            <a:pPr marL="344170" indent="-337820">
              <a:buClr>
                <a:srgbClr val="F98657"/>
              </a:buClr>
            </a:pPr>
            <a:endParaRPr lang="en-US" sz="1800">
              <a:cs typeface="Arial" panose="020B0604020202020204"/>
            </a:endParaRPr>
          </a:p>
        </p:txBody>
      </p:sp>
    </p:spTree>
    <p:extLst>
      <p:ext uri="{BB962C8B-B14F-4D97-AF65-F5344CB8AC3E}">
        <p14:creationId xmlns:p14="http://schemas.microsoft.com/office/powerpoint/2010/main" val="4061953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DE95B-C250-8210-D7DC-36A91D911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AE174-6746-E3EE-83E9-34C9194D2528}"/>
              </a:ext>
            </a:extLst>
          </p:cNvPr>
          <p:cNvSpPr>
            <a:spLocks noGrp="1"/>
          </p:cNvSpPr>
          <p:nvPr>
            <p:ph type="title"/>
          </p:nvPr>
        </p:nvSpPr>
        <p:spPr>
          <a:xfrm>
            <a:off x="1969803" y="808056"/>
            <a:ext cx="8608037" cy="1077229"/>
          </a:xfrm>
        </p:spPr>
        <p:txBody>
          <a:bodyPr vert="horz" lIns="91440" tIns="45720" rIns="91440" bIns="45720" rtlCol="0" anchor="t">
            <a:normAutofit/>
          </a:bodyPr>
          <a:lstStyle/>
          <a:p>
            <a:pPr algn="l"/>
            <a:r>
              <a:rPr lang="en-US"/>
              <a:t>Why Does AI Require so much energy?</a:t>
            </a:r>
          </a:p>
        </p:txBody>
      </p:sp>
      <p:sp>
        <p:nvSpPr>
          <p:cNvPr id="3" name="Title 1">
            <a:extLst>
              <a:ext uri="{FF2B5EF4-FFF2-40B4-BE49-F238E27FC236}">
                <a16:creationId xmlns:a16="http://schemas.microsoft.com/office/drawing/2014/main" id="{4E55A8A1-AD53-686A-5726-5BCDC4479BAD}"/>
              </a:ext>
            </a:extLst>
          </p:cNvPr>
          <p:cNvSpPr txBox="1">
            <a:spLocks/>
          </p:cNvSpPr>
          <p:nvPr/>
        </p:nvSpPr>
        <p:spPr>
          <a:xfrm>
            <a:off x="1975805" y="2052116"/>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110000"/>
              </a:lnSpc>
              <a:spcBef>
                <a:spcPts val="500"/>
              </a:spcBef>
              <a:spcAft>
                <a:spcPts val="600"/>
              </a:spcAft>
              <a:buClr>
                <a:schemeClr val="accent6"/>
              </a:buClr>
              <a:buSzPct val="90000"/>
            </a:pPr>
            <a:r>
              <a:rPr lang="en-US" sz="1400">
                <a:solidFill>
                  <a:schemeClr val="tx1"/>
                </a:solidFill>
                <a:latin typeface="+mn-lt"/>
                <a:ea typeface="+mn-ea"/>
                <a:cs typeface="Arial" panose="020B0604020202020204"/>
              </a:rPr>
              <a:t>Because of the computational power required to run these models at the speed seen through modern online chat bots, these models are ran on extremely powerful computers all held together in data centers owned for or paid for by the company. More computational power does not necessarily mean better energy efficiency to produce that power, and often times these powerful computers release large amounts of heat far greater then personal computers, with all of these computers in one single space powerful cooling is needed to keep the computers from overheating. For this reason liquid cooling is used often derived from fresh water sources that run through tubes alongside the machine dissipating the heat from the machines to the water which over time declines as it evaporates through special ducts. </a:t>
            </a:r>
          </a:p>
          <a:p>
            <a:pPr defTabSz="914400">
              <a:lnSpc>
                <a:spcPct val="110000"/>
              </a:lnSpc>
              <a:spcBef>
                <a:spcPts val="500"/>
              </a:spcBef>
              <a:spcAft>
                <a:spcPts val="600"/>
              </a:spcAft>
            </a:pPr>
            <a:endParaRPr lang="en-US" sz="2000">
              <a:solidFill>
                <a:schemeClr val="tx1"/>
              </a:solidFill>
              <a:latin typeface="+mn-lt"/>
              <a:ea typeface="+mn-ea"/>
              <a:cs typeface="Arial" panose="020B0604020202020204"/>
            </a:endParaRPr>
          </a:p>
        </p:txBody>
      </p:sp>
      <p:pic>
        <p:nvPicPr>
          <p:cNvPr id="7" name="Graphic 6" descr="House">
            <a:extLst>
              <a:ext uri="{FF2B5EF4-FFF2-40B4-BE49-F238E27FC236}">
                <a16:creationId xmlns:a16="http://schemas.microsoft.com/office/drawing/2014/main" id="{CC11D037-2535-9586-E509-EF21C0C41A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Tree>
    <p:extLst>
      <p:ext uri="{BB962C8B-B14F-4D97-AF65-F5344CB8AC3E}">
        <p14:creationId xmlns:p14="http://schemas.microsoft.com/office/powerpoint/2010/main" val="1543033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94B0A-D210-B22E-1053-3F1E0479A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A607C-283D-827A-EC10-DA9E50BBA933}"/>
              </a:ext>
            </a:extLst>
          </p:cNvPr>
          <p:cNvSpPr>
            <a:spLocks noGrp="1"/>
          </p:cNvSpPr>
          <p:nvPr>
            <p:ph type="title"/>
          </p:nvPr>
        </p:nvSpPr>
        <p:spPr>
          <a:xfrm>
            <a:off x="1969803" y="808056"/>
            <a:ext cx="8608037" cy="1077229"/>
          </a:xfrm>
        </p:spPr>
        <p:txBody>
          <a:bodyPr vert="horz" lIns="91440" tIns="45720" rIns="91440" bIns="45720" rtlCol="0" anchor="t">
            <a:normAutofit/>
          </a:bodyPr>
          <a:lstStyle/>
          <a:p>
            <a:pPr algn="l"/>
            <a:r>
              <a:rPr lang="en-US"/>
              <a:t>Why Does AI waste so much water?</a:t>
            </a:r>
          </a:p>
        </p:txBody>
      </p:sp>
      <p:sp>
        <p:nvSpPr>
          <p:cNvPr id="3" name="Title 1">
            <a:extLst>
              <a:ext uri="{FF2B5EF4-FFF2-40B4-BE49-F238E27FC236}">
                <a16:creationId xmlns:a16="http://schemas.microsoft.com/office/drawing/2014/main" id="{8D8FDD0B-2AC8-BCDA-4AEC-AD08224ABA78}"/>
              </a:ext>
            </a:extLst>
          </p:cNvPr>
          <p:cNvSpPr txBox="1">
            <a:spLocks/>
          </p:cNvSpPr>
          <p:nvPr/>
        </p:nvSpPr>
        <p:spPr>
          <a:xfrm>
            <a:off x="1975805" y="2052116"/>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110000"/>
              </a:lnSpc>
              <a:spcBef>
                <a:spcPts val="500"/>
              </a:spcBef>
              <a:spcAft>
                <a:spcPts val="600"/>
              </a:spcAft>
              <a:buClr>
                <a:schemeClr val="accent6"/>
              </a:buClr>
              <a:buSzPct val="90000"/>
            </a:pPr>
            <a:r>
              <a:rPr lang="en-US" sz="1400">
                <a:solidFill>
                  <a:schemeClr val="tx1"/>
                </a:solidFill>
                <a:latin typeface="+mn-lt"/>
                <a:ea typeface="+mn-ea"/>
                <a:cs typeface="Arial" panose="020B0604020202020204"/>
              </a:rPr>
              <a:t>Because of the computational power required to run these models at the speed seen through modern online chat bots, these models are ran on extremely powerful computers all held together in data centers owned for or paid for by the company. More computational power does not necessarily mean better energy efficiency to produce that power, and often times these powerful computers release large amounts of heat far greater then personal computers, with all of these computers in one single space powerful cooling is needed to keep the computers from overheating. For this reason liquid cooling is used often derived from fresh water sources that run through tubes alongside the machine dissipating the heat from the machines to the water which over time declines as it evaporates through special ducts. </a:t>
            </a:r>
          </a:p>
          <a:p>
            <a:pPr defTabSz="914400">
              <a:lnSpc>
                <a:spcPct val="110000"/>
              </a:lnSpc>
              <a:spcBef>
                <a:spcPts val="500"/>
              </a:spcBef>
              <a:spcAft>
                <a:spcPts val="600"/>
              </a:spcAft>
            </a:pPr>
            <a:endParaRPr lang="en-US" sz="2000">
              <a:solidFill>
                <a:schemeClr val="tx1"/>
              </a:solidFill>
              <a:latin typeface="+mn-lt"/>
              <a:ea typeface="+mn-ea"/>
              <a:cs typeface="Arial" panose="020B0604020202020204"/>
            </a:endParaRPr>
          </a:p>
        </p:txBody>
      </p:sp>
      <p:pic>
        <p:nvPicPr>
          <p:cNvPr id="7" name="Graphic 6" descr="House">
            <a:extLst>
              <a:ext uri="{FF2B5EF4-FFF2-40B4-BE49-F238E27FC236}">
                <a16:creationId xmlns:a16="http://schemas.microsoft.com/office/drawing/2014/main" id="{38518516-3A66-7162-25E9-FE52DBAF4C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Tree>
    <p:extLst>
      <p:ext uri="{BB962C8B-B14F-4D97-AF65-F5344CB8AC3E}">
        <p14:creationId xmlns:p14="http://schemas.microsoft.com/office/powerpoint/2010/main" val="1586436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5E5DE-A793-173F-CCED-CE58FE42CA57}"/>
              </a:ext>
            </a:extLst>
          </p:cNvPr>
          <p:cNvSpPr>
            <a:spLocks noGrp="1"/>
          </p:cNvSpPr>
          <p:nvPr>
            <p:ph type="title"/>
          </p:nvPr>
        </p:nvSpPr>
        <p:spPr>
          <a:xfrm>
            <a:off x="1969803" y="808056"/>
            <a:ext cx="8608037" cy="1077229"/>
          </a:xfrm>
        </p:spPr>
        <p:txBody>
          <a:bodyPr vert="horz" lIns="91440" tIns="45720" rIns="91440" bIns="45720" rtlCol="0" anchor="t">
            <a:normAutofit/>
          </a:bodyPr>
          <a:lstStyle/>
          <a:p>
            <a:pPr algn="l"/>
            <a:r>
              <a:rPr lang="en-US"/>
              <a:t>Individual Contributions</a:t>
            </a:r>
          </a:p>
        </p:txBody>
      </p:sp>
      <p:pic>
        <p:nvPicPr>
          <p:cNvPr id="7" name="Graphic 6" descr="House">
            <a:extLst>
              <a:ext uri="{FF2B5EF4-FFF2-40B4-BE49-F238E27FC236}">
                <a16:creationId xmlns:a16="http://schemas.microsoft.com/office/drawing/2014/main" id="{32EF63EA-BC77-BD52-53AD-FFD8BC07A5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Tree>
    <p:extLst>
      <p:ext uri="{BB962C8B-B14F-4D97-AF65-F5344CB8AC3E}">
        <p14:creationId xmlns:p14="http://schemas.microsoft.com/office/powerpoint/2010/main" val="2608426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07D90-7483-C694-AC28-96DAAB046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F7E3D2-031B-1B9C-BB42-6911139EC9AE}"/>
              </a:ext>
            </a:extLst>
          </p:cNvPr>
          <p:cNvSpPr>
            <a:spLocks noGrp="1"/>
          </p:cNvSpPr>
          <p:nvPr>
            <p:ph type="title"/>
          </p:nvPr>
        </p:nvSpPr>
        <p:spPr>
          <a:xfrm>
            <a:off x="1969803" y="808056"/>
            <a:ext cx="8608037" cy="1077229"/>
          </a:xfrm>
        </p:spPr>
        <p:txBody>
          <a:bodyPr vert="horz" lIns="91440" tIns="45720" rIns="91440" bIns="45720" rtlCol="0" anchor="t">
            <a:normAutofit/>
          </a:bodyPr>
          <a:lstStyle/>
          <a:p>
            <a:pPr algn="l"/>
            <a:r>
              <a:rPr lang="en-US"/>
              <a:t>Solutions</a:t>
            </a:r>
          </a:p>
        </p:txBody>
      </p:sp>
      <p:pic>
        <p:nvPicPr>
          <p:cNvPr id="7" name="Graphic 6" descr="House">
            <a:extLst>
              <a:ext uri="{FF2B5EF4-FFF2-40B4-BE49-F238E27FC236}">
                <a16:creationId xmlns:a16="http://schemas.microsoft.com/office/drawing/2014/main" id="{CEF24A08-3401-05D8-4D55-9DD90D715E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5" name="Title 1">
            <a:extLst>
              <a:ext uri="{FF2B5EF4-FFF2-40B4-BE49-F238E27FC236}">
                <a16:creationId xmlns:a16="http://schemas.microsoft.com/office/drawing/2014/main" id="{65B1397C-2597-7E8C-4A7D-FF9C39ECF661}"/>
              </a:ext>
            </a:extLst>
          </p:cNvPr>
          <p:cNvSpPr txBox="1">
            <a:spLocks/>
          </p:cNvSpPr>
          <p:nvPr/>
        </p:nvSpPr>
        <p:spPr>
          <a:xfrm>
            <a:off x="2147744" y="1716054"/>
            <a:ext cx="5243780" cy="3997828"/>
          </a:xfrm>
          <a:prstGeom prst="rect">
            <a:avLst/>
          </a:prstGeom>
        </p:spPr>
        <p:txBody>
          <a:bodyPr vert="horz" lIns="91440" tIns="45720" rIns="91440" bIns="45720" rtlCol="0" anchor="t">
            <a:normAutofit lnSpcReduction="100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285750" indent="-285750" defTabSz="914400">
              <a:lnSpc>
                <a:spcPct val="110000"/>
              </a:lnSpc>
              <a:spcBef>
                <a:spcPts val="500"/>
              </a:spcBef>
              <a:spcAft>
                <a:spcPts val="600"/>
              </a:spcAft>
              <a:buClr>
                <a:schemeClr val="accent6"/>
              </a:buClr>
              <a:buSzPct val="90000"/>
              <a:buFont typeface="Arial"/>
              <a:buChar char="•"/>
            </a:pPr>
            <a:r>
              <a:rPr lang="en-US" sz="1800">
                <a:solidFill>
                  <a:schemeClr val="tx1"/>
                </a:solidFill>
                <a:latin typeface="+mn-lt"/>
                <a:ea typeface="+mn-ea"/>
                <a:cs typeface="Arial" panose="020B0604020202020204"/>
              </a:rPr>
              <a:t>Limit use of video models like Veo and Sora only to what is necessary</a:t>
            </a:r>
          </a:p>
          <a:p>
            <a:pPr marL="285750" indent="-285750" defTabSz="914400">
              <a:lnSpc>
                <a:spcPct val="110000"/>
              </a:lnSpc>
              <a:spcBef>
                <a:spcPts val="500"/>
              </a:spcBef>
              <a:spcAft>
                <a:spcPts val="600"/>
              </a:spcAft>
              <a:buClr>
                <a:srgbClr val="8EC0C1"/>
              </a:buClr>
              <a:buSzPct val="90000"/>
              <a:buFont typeface="Arial"/>
              <a:buChar char="•"/>
            </a:pPr>
            <a:r>
              <a:rPr lang="en-US" sz="1800">
                <a:solidFill>
                  <a:schemeClr val="tx1"/>
                </a:solidFill>
                <a:latin typeface="+mn-lt"/>
                <a:ea typeface="+mn-ea"/>
                <a:cs typeface="Arial" panose="020B0604020202020204"/>
              </a:rPr>
              <a:t>Find and re-use old search prompts for answers instead of re-prompting the model</a:t>
            </a:r>
          </a:p>
          <a:p>
            <a:pPr marL="285750" indent="-285750" defTabSz="914400">
              <a:lnSpc>
                <a:spcPct val="110000"/>
              </a:lnSpc>
              <a:spcBef>
                <a:spcPts val="500"/>
              </a:spcBef>
              <a:spcAft>
                <a:spcPts val="600"/>
              </a:spcAft>
              <a:buClr>
                <a:srgbClr val="8EC0C1"/>
              </a:buClr>
              <a:buSzPct val="90000"/>
              <a:buFont typeface="Arial"/>
              <a:buChar char="•"/>
            </a:pPr>
            <a:r>
              <a:rPr lang="en-US" sz="1800">
                <a:solidFill>
                  <a:schemeClr val="tx1"/>
                </a:solidFill>
                <a:latin typeface="+mn-lt"/>
                <a:ea typeface="+mn-ea"/>
                <a:cs typeface="Arial" panose="020B0604020202020204"/>
              </a:rPr>
              <a:t>Use Tools like </a:t>
            </a:r>
            <a:r>
              <a:rPr lang="en-US" sz="1800">
                <a:solidFill>
                  <a:schemeClr val="tx1"/>
                </a:solidFill>
                <a:latin typeface="+mn-lt"/>
                <a:ea typeface="+mn-ea"/>
                <a:cs typeface="Arial" panose="020B0604020202020204"/>
                <a:hlinkClick r:id="rId4">
                  <a:extLst>
                    <a:ext uri="{A12FA001-AC4F-418D-AE19-62706E023703}">
                      <ahyp:hlinkClr xmlns:ahyp="http://schemas.microsoft.com/office/drawing/2018/hyperlinkcolor" val="tx"/>
                    </a:ext>
                  </a:extLst>
                </a:hlinkClick>
              </a:rPr>
              <a:t>mlco2</a:t>
            </a:r>
            <a:r>
              <a:rPr lang="en-US" sz="1800">
                <a:solidFill>
                  <a:schemeClr val="tx1"/>
                </a:solidFill>
                <a:latin typeface="+mn-lt"/>
                <a:ea typeface="+mn-ea"/>
                <a:cs typeface="Arial" panose="020B0604020202020204"/>
              </a:rPr>
              <a:t> to keep track of energy consumption when using AI models</a:t>
            </a:r>
          </a:p>
          <a:p>
            <a:pPr marL="285750" indent="-285750" defTabSz="914400">
              <a:lnSpc>
                <a:spcPct val="110000"/>
              </a:lnSpc>
              <a:spcBef>
                <a:spcPts val="500"/>
              </a:spcBef>
              <a:spcAft>
                <a:spcPts val="600"/>
              </a:spcAft>
              <a:buClr>
                <a:srgbClr val="8EC0C1"/>
              </a:buClr>
              <a:buSzPct val="90000"/>
              <a:buFont typeface="Arial"/>
              <a:buChar char="•"/>
            </a:pPr>
            <a:r>
              <a:rPr lang="en-US" sz="1800">
                <a:solidFill>
                  <a:schemeClr val="tx1"/>
                </a:solidFill>
                <a:latin typeface="+mn-lt"/>
                <a:ea typeface="+mn-ea"/>
                <a:cs typeface="Arial" panose="020B0604020202020204"/>
              </a:rPr>
              <a:t>Disable auto/embedded AI when possible ex. Google Search AI results.</a:t>
            </a:r>
          </a:p>
          <a:p>
            <a:pPr marL="285750" indent="-285750" defTabSz="914400">
              <a:lnSpc>
                <a:spcPct val="110000"/>
              </a:lnSpc>
              <a:spcBef>
                <a:spcPts val="500"/>
              </a:spcBef>
              <a:spcAft>
                <a:spcPts val="600"/>
              </a:spcAft>
              <a:buClr>
                <a:srgbClr val="8EC0C1"/>
              </a:buClr>
              <a:buSzPct val="90000"/>
              <a:buFont typeface="Arial"/>
              <a:buChar char="•"/>
            </a:pPr>
            <a:r>
              <a:rPr lang="en-US" sz="1800">
                <a:solidFill>
                  <a:schemeClr val="tx1"/>
                </a:solidFill>
                <a:latin typeface="+mn-lt"/>
                <a:ea typeface="+mn-ea"/>
                <a:cs typeface="Arial" panose="020B0604020202020204"/>
              </a:rPr>
              <a:t>Vote on propositions related to data center development </a:t>
            </a:r>
          </a:p>
          <a:p>
            <a:pPr marL="285750" indent="-285750" defTabSz="914400">
              <a:lnSpc>
                <a:spcPct val="110000"/>
              </a:lnSpc>
              <a:spcBef>
                <a:spcPts val="500"/>
              </a:spcBef>
              <a:spcAft>
                <a:spcPts val="600"/>
              </a:spcAft>
              <a:buClr>
                <a:srgbClr val="8EC0C1"/>
              </a:buClr>
              <a:buSzPct val="90000"/>
              <a:buFont typeface="Arial"/>
              <a:buChar char="•"/>
            </a:pPr>
            <a:r>
              <a:rPr lang="en-US" sz="1800">
                <a:solidFill>
                  <a:schemeClr val="tx1"/>
                </a:solidFill>
                <a:latin typeface="+mn-lt"/>
                <a:ea typeface="+mn-ea"/>
                <a:cs typeface="Arial" panose="020B0604020202020204"/>
              </a:rPr>
              <a:t>Use models locally whenever possible</a:t>
            </a:r>
          </a:p>
          <a:p>
            <a:pPr defTabSz="914400">
              <a:lnSpc>
                <a:spcPct val="110000"/>
              </a:lnSpc>
              <a:spcBef>
                <a:spcPts val="500"/>
              </a:spcBef>
              <a:spcAft>
                <a:spcPts val="600"/>
              </a:spcAft>
            </a:pPr>
            <a:endParaRPr lang="en-US" sz="2000">
              <a:solidFill>
                <a:schemeClr val="tx1"/>
              </a:solidFill>
              <a:latin typeface="+mn-lt"/>
              <a:ea typeface="+mn-ea"/>
              <a:cs typeface="Arial" panose="020B0604020202020204"/>
            </a:endParaRPr>
          </a:p>
        </p:txBody>
      </p:sp>
    </p:spTree>
    <p:extLst>
      <p:ext uri="{BB962C8B-B14F-4D97-AF65-F5344CB8AC3E}">
        <p14:creationId xmlns:p14="http://schemas.microsoft.com/office/powerpoint/2010/main" val="155950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405E2-5AFE-2298-9BAC-4DBDBC2E7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3D783-6FFC-4D22-A7F9-353E60526CA3}"/>
              </a:ext>
            </a:extLst>
          </p:cNvPr>
          <p:cNvSpPr>
            <a:spLocks noGrp="1"/>
          </p:cNvSpPr>
          <p:nvPr>
            <p:ph type="title"/>
          </p:nvPr>
        </p:nvSpPr>
        <p:spPr>
          <a:xfrm>
            <a:off x="1969803" y="808056"/>
            <a:ext cx="8608037" cy="1077229"/>
          </a:xfrm>
        </p:spPr>
        <p:txBody>
          <a:bodyPr vert="horz" lIns="91440" tIns="45720" rIns="91440" bIns="45720" rtlCol="0" anchor="t">
            <a:normAutofit/>
          </a:bodyPr>
          <a:lstStyle/>
          <a:p>
            <a:pPr algn="l"/>
            <a:r>
              <a:rPr lang="en-US">
                <a:cs typeface="Arial"/>
              </a:rPr>
              <a:t>Using Models Locally </a:t>
            </a:r>
          </a:p>
        </p:txBody>
      </p:sp>
      <p:sp>
        <p:nvSpPr>
          <p:cNvPr id="3" name="Title 1">
            <a:extLst>
              <a:ext uri="{FF2B5EF4-FFF2-40B4-BE49-F238E27FC236}">
                <a16:creationId xmlns:a16="http://schemas.microsoft.com/office/drawing/2014/main" id="{67252ABD-7031-C603-24EC-46C5D9585742}"/>
              </a:ext>
            </a:extLst>
          </p:cNvPr>
          <p:cNvSpPr txBox="1">
            <a:spLocks/>
          </p:cNvSpPr>
          <p:nvPr/>
        </p:nvSpPr>
        <p:spPr>
          <a:xfrm>
            <a:off x="1975805" y="2052116"/>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110000"/>
              </a:lnSpc>
              <a:spcBef>
                <a:spcPts val="500"/>
              </a:spcBef>
              <a:spcAft>
                <a:spcPts val="600"/>
              </a:spcAft>
              <a:buClr>
                <a:schemeClr val="accent6"/>
              </a:buClr>
              <a:buSzPct val="90000"/>
            </a:pPr>
            <a:endParaRPr lang="en-US" sz="2000">
              <a:solidFill>
                <a:schemeClr val="tx1"/>
              </a:solidFill>
              <a:latin typeface="+mn-lt"/>
              <a:cs typeface="Arial" panose="020B0604020202020204"/>
            </a:endParaRPr>
          </a:p>
        </p:txBody>
      </p:sp>
      <p:pic>
        <p:nvPicPr>
          <p:cNvPr id="7" name="Graphic 6" descr="House">
            <a:extLst>
              <a:ext uri="{FF2B5EF4-FFF2-40B4-BE49-F238E27FC236}">
                <a16:creationId xmlns:a16="http://schemas.microsoft.com/office/drawing/2014/main" id="{7A5E1449-2A4E-F438-CF30-2D5BCA273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29123" y="2924092"/>
            <a:ext cx="2222842" cy="22228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5" name="Title 1">
            <a:extLst>
              <a:ext uri="{FF2B5EF4-FFF2-40B4-BE49-F238E27FC236}">
                <a16:creationId xmlns:a16="http://schemas.microsoft.com/office/drawing/2014/main" id="{5618A185-DD78-BFD7-9310-354089FB59A3}"/>
              </a:ext>
            </a:extLst>
          </p:cNvPr>
          <p:cNvSpPr txBox="1">
            <a:spLocks/>
          </p:cNvSpPr>
          <p:nvPr/>
        </p:nvSpPr>
        <p:spPr>
          <a:xfrm>
            <a:off x="2128205" y="2204516"/>
            <a:ext cx="5243780" cy="399782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defTabSz="914400">
              <a:lnSpc>
                <a:spcPct val="110000"/>
              </a:lnSpc>
              <a:spcBef>
                <a:spcPts val="500"/>
              </a:spcBef>
              <a:spcAft>
                <a:spcPts val="600"/>
              </a:spcAft>
              <a:buClr>
                <a:schemeClr val="accent6"/>
              </a:buClr>
              <a:buSzPct val="90000"/>
            </a:pPr>
            <a:r>
              <a:rPr lang="en-US" sz="1800">
                <a:solidFill>
                  <a:schemeClr val="tx1"/>
                </a:solidFill>
                <a:latin typeface="+mn-lt"/>
                <a:ea typeface="+mn-ea"/>
                <a:cs typeface="Arial" panose="020B0604020202020204"/>
              </a:rPr>
              <a:t>LM Studio</a:t>
            </a:r>
          </a:p>
          <a:p>
            <a:pPr defTabSz="914400">
              <a:lnSpc>
                <a:spcPct val="110000"/>
              </a:lnSpc>
              <a:spcBef>
                <a:spcPts val="500"/>
              </a:spcBef>
              <a:spcAft>
                <a:spcPts val="600"/>
              </a:spcAft>
            </a:pPr>
            <a:endParaRPr lang="en-US" sz="1800">
              <a:solidFill>
                <a:schemeClr val="tx1"/>
              </a:solidFill>
              <a:latin typeface="+mn-lt"/>
              <a:ea typeface="+mn-ea"/>
              <a:cs typeface="Arial" panose="020B0604020202020204"/>
            </a:endParaRPr>
          </a:p>
          <a:p>
            <a:pPr defTabSz="914400">
              <a:lnSpc>
                <a:spcPct val="110000"/>
              </a:lnSpc>
              <a:spcBef>
                <a:spcPts val="500"/>
              </a:spcBef>
              <a:spcAft>
                <a:spcPts val="600"/>
              </a:spcAft>
            </a:pPr>
            <a:endParaRPr lang="en-US" sz="2000">
              <a:solidFill>
                <a:schemeClr val="tx1"/>
              </a:solidFill>
              <a:latin typeface="+mn-lt"/>
              <a:ea typeface="+mn-ea"/>
              <a:cs typeface="Arial" panose="020B0604020202020204"/>
            </a:endParaRPr>
          </a:p>
        </p:txBody>
      </p:sp>
    </p:spTree>
    <p:extLst>
      <p:ext uri="{BB962C8B-B14F-4D97-AF65-F5344CB8AC3E}">
        <p14:creationId xmlns:p14="http://schemas.microsoft.com/office/powerpoint/2010/main" val="389902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EEDC7-80EA-539F-5B1C-046CEF59A0D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DC59D35-1CB5-6C96-A932-69905CBD6508}"/>
              </a:ext>
            </a:extLst>
          </p:cNvPr>
          <p:cNvSpPr txBox="1">
            <a:spLocks/>
          </p:cNvSpPr>
          <p:nvPr/>
        </p:nvSpPr>
        <p:spPr>
          <a:xfrm>
            <a:off x="1164167" y="3112558"/>
            <a:ext cx="8187796" cy="465138"/>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l"/>
            <a:r>
              <a:rPr lang="en-US" sz="2000"/>
              <a:t>Based on the zip code entered the app identifies the utility provider.</a:t>
            </a:r>
          </a:p>
        </p:txBody>
      </p:sp>
      <p:pic>
        <p:nvPicPr>
          <p:cNvPr id="10" name="Picture 9" descr="A screenshot of a computer&#10;&#10;AI-generated content may be incorrect.">
            <a:extLst>
              <a:ext uri="{FF2B5EF4-FFF2-40B4-BE49-F238E27FC236}">
                <a16:creationId xmlns:a16="http://schemas.microsoft.com/office/drawing/2014/main" id="{9CE78767-9F30-F2C2-0D59-5662712194FF}"/>
              </a:ext>
            </a:extLst>
          </p:cNvPr>
          <p:cNvPicPr>
            <a:picLocks noChangeAspect="1"/>
          </p:cNvPicPr>
          <p:nvPr/>
        </p:nvPicPr>
        <p:blipFill>
          <a:blip r:embed="rId2"/>
          <a:stretch>
            <a:fillRect/>
          </a:stretch>
        </p:blipFill>
        <p:spPr>
          <a:xfrm>
            <a:off x="1270407" y="1486104"/>
            <a:ext cx="8454346" cy="1528865"/>
          </a:xfrm>
          <a:prstGeom prst="rect">
            <a:avLst/>
          </a:prstGeom>
        </p:spPr>
      </p:pic>
      <p:sp>
        <p:nvSpPr>
          <p:cNvPr id="12" name="Title 1">
            <a:extLst>
              <a:ext uri="{FF2B5EF4-FFF2-40B4-BE49-F238E27FC236}">
                <a16:creationId xmlns:a16="http://schemas.microsoft.com/office/drawing/2014/main" id="{32FE89BF-CB54-A089-85B5-17ACDEDBF5AD}"/>
              </a:ext>
            </a:extLst>
          </p:cNvPr>
          <p:cNvSpPr txBox="1">
            <a:spLocks/>
          </p:cNvSpPr>
          <p:nvPr/>
        </p:nvSpPr>
        <p:spPr>
          <a:xfrm>
            <a:off x="1166485" y="335650"/>
            <a:ext cx="9404723" cy="93194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User Input:</a:t>
            </a:r>
          </a:p>
        </p:txBody>
      </p:sp>
      <p:pic>
        <p:nvPicPr>
          <p:cNvPr id="14" name="Picture 13" descr="A screenshot of a computer&#10;&#10;AI-generated content may be incorrect.">
            <a:extLst>
              <a:ext uri="{FF2B5EF4-FFF2-40B4-BE49-F238E27FC236}">
                <a16:creationId xmlns:a16="http://schemas.microsoft.com/office/drawing/2014/main" id="{D6C70C41-19AF-9C90-20A4-41E8E91A8F15}"/>
              </a:ext>
            </a:extLst>
          </p:cNvPr>
          <p:cNvPicPr>
            <a:picLocks noChangeAspect="1"/>
          </p:cNvPicPr>
          <p:nvPr/>
        </p:nvPicPr>
        <p:blipFill>
          <a:blip r:embed="rId3"/>
          <a:stretch>
            <a:fillRect/>
          </a:stretch>
        </p:blipFill>
        <p:spPr>
          <a:xfrm>
            <a:off x="1270407" y="3684282"/>
            <a:ext cx="8371516" cy="876246"/>
          </a:xfrm>
          <a:prstGeom prst="rect">
            <a:avLst/>
          </a:prstGeom>
        </p:spPr>
      </p:pic>
      <p:sp>
        <p:nvSpPr>
          <p:cNvPr id="16" name="Title 1">
            <a:extLst>
              <a:ext uri="{FF2B5EF4-FFF2-40B4-BE49-F238E27FC236}">
                <a16:creationId xmlns:a16="http://schemas.microsoft.com/office/drawing/2014/main" id="{0EB019DE-9CD1-220E-008F-B506655E3213}"/>
              </a:ext>
            </a:extLst>
          </p:cNvPr>
          <p:cNvSpPr txBox="1">
            <a:spLocks/>
          </p:cNvSpPr>
          <p:nvPr/>
        </p:nvSpPr>
        <p:spPr>
          <a:xfrm>
            <a:off x="1164574" y="4789507"/>
            <a:ext cx="9404723" cy="1121739"/>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a:t>The program then retrieves the raw data from the EIA website based on the utility provider and the date range provided and returns back a list of tables and visualizations for the user to easily interpret. </a:t>
            </a:r>
          </a:p>
        </p:txBody>
      </p:sp>
    </p:spTree>
    <p:extLst>
      <p:ext uri="{BB962C8B-B14F-4D97-AF65-F5344CB8AC3E}">
        <p14:creationId xmlns:p14="http://schemas.microsoft.com/office/powerpoint/2010/main" val="3390823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CBA37-A039-16F8-875D-FF49C56C8810}"/>
              </a:ext>
            </a:extLst>
          </p:cNvPr>
          <p:cNvSpPr>
            <a:spLocks noGrp="1"/>
          </p:cNvSpPr>
          <p:nvPr>
            <p:ph type="title"/>
          </p:nvPr>
        </p:nvSpPr>
        <p:spPr>
          <a:xfrm>
            <a:off x="1366554" y="183639"/>
            <a:ext cx="3969504" cy="1077229"/>
          </a:xfrm>
        </p:spPr>
        <p:txBody>
          <a:bodyPr vert="horz" lIns="91440" tIns="45720" rIns="91440" bIns="45720" rtlCol="0" anchor="t">
            <a:normAutofit/>
          </a:bodyPr>
          <a:lstStyle/>
          <a:p>
            <a:pPr algn="l"/>
            <a:r>
              <a:rPr lang="en-US"/>
              <a:t>Energy production by source:</a:t>
            </a:r>
          </a:p>
        </p:txBody>
      </p:sp>
      <p:sp>
        <p:nvSpPr>
          <p:cNvPr id="8" name="Title 1">
            <a:extLst>
              <a:ext uri="{FF2B5EF4-FFF2-40B4-BE49-F238E27FC236}">
                <a16:creationId xmlns:a16="http://schemas.microsoft.com/office/drawing/2014/main" id="{BC3D8A15-4871-A6C4-43A6-05B1E8EA6B3C}"/>
              </a:ext>
            </a:extLst>
          </p:cNvPr>
          <p:cNvSpPr txBox="1">
            <a:spLocks/>
          </p:cNvSpPr>
          <p:nvPr/>
        </p:nvSpPr>
        <p:spPr>
          <a:xfrm>
            <a:off x="1006720" y="2020366"/>
            <a:ext cx="3853088" cy="3997828"/>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indent="-337820" defTabSz="914400">
              <a:lnSpc>
                <a:spcPct val="110000"/>
              </a:lnSpc>
              <a:spcBef>
                <a:spcPts val="500"/>
              </a:spcBef>
              <a:spcAft>
                <a:spcPts val="600"/>
              </a:spcAft>
              <a:buClr>
                <a:schemeClr val="accent6"/>
              </a:buClr>
              <a:buSzPct val="90000"/>
              <a:buFont typeface="Wingdings" panose="05000000000000000000" pitchFamily="2" charset="2"/>
              <a:buChar char="§"/>
            </a:pPr>
            <a:r>
              <a:rPr lang="en-US" sz="1600">
                <a:solidFill>
                  <a:schemeClr val="tx1"/>
                </a:solidFill>
                <a:latin typeface="+mn-lt"/>
                <a:ea typeface="+mn-ea"/>
                <a:cs typeface="+mn-cs"/>
              </a:rPr>
              <a:t>Quick Insights:</a:t>
            </a:r>
            <a:endParaRPr lang="en-US" sz="1600">
              <a:solidFill>
                <a:schemeClr val="tx1"/>
              </a:solidFill>
              <a:latin typeface="+mn-lt"/>
              <a:ea typeface="+mn-ea"/>
              <a:cs typeface="Arial"/>
            </a:endParaRPr>
          </a:p>
          <a:p>
            <a:pPr marL="342900" indent="-337820" defTabSz="914400">
              <a:lnSpc>
                <a:spcPct val="110000"/>
              </a:lnSpc>
              <a:spcBef>
                <a:spcPts val="500"/>
              </a:spcBef>
              <a:spcAft>
                <a:spcPts val="600"/>
              </a:spcAft>
              <a:buClr>
                <a:schemeClr val="accent6"/>
              </a:buClr>
              <a:buSzPct val="90000"/>
              <a:buFont typeface="Wingdings" panose="05000000000000000000" pitchFamily="2" charset="2"/>
              <a:buChar char="§"/>
            </a:pPr>
            <a:r>
              <a:rPr lang="en-US" sz="1600">
                <a:solidFill>
                  <a:schemeClr val="tx1"/>
                </a:solidFill>
                <a:latin typeface="+mn-lt"/>
                <a:ea typeface="+mn-ea"/>
                <a:cs typeface="+mn-cs"/>
              </a:rPr>
              <a:t>Nuclear power has been the main source of energy for SRP in the past month </a:t>
            </a:r>
            <a:endParaRPr lang="en-US" sz="1600">
              <a:solidFill>
                <a:schemeClr val="tx1"/>
              </a:solidFill>
              <a:latin typeface="+mn-lt"/>
              <a:ea typeface="+mn-ea"/>
              <a:cs typeface="Arial"/>
            </a:endParaRPr>
          </a:p>
          <a:p>
            <a:pPr marL="342900" indent="-337820" defTabSz="914400">
              <a:lnSpc>
                <a:spcPct val="110000"/>
              </a:lnSpc>
              <a:spcBef>
                <a:spcPts val="500"/>
              </a:spcBef>
              <a:spcAft>
                <a:spcPts val="600"/>
              </a:spcAft>
              <a:buClr>
                <a:schemeClr val="accent6"/>
              </a:buClr>
              <a:buSzPct val="90000"/>
              <a:buFont typeface="Wingdings" panose="05000000000000000000" pitchFamily="2" charset="2"/>
              <a:buChar char="§"/>
            </a:pPr>
            <a:r>
              <a:rPr lang="en-US" sz="1600">
                <a:solidFill>
                  <a:schemeClr val="tx1"/>
                </a:solidFill>
                <a:latin typeface="+mn-lt"/>
                <a:ea typeface="+mn-ea"/>
                <a:cs typeface="+mn-cs"/>
              </a:rPr>
              <a:t>Nuclear and Coal are used more than Solar. </a:t>
            </a:r>
            <a:endParaRPr lang="en-US" sz="1600">
              <a:solidFill>
                <a:schemeClr val="tx1"/>
              </a:solidFill>
              <a:latin typeface="+mn-lt"/>
              <a:ea typeface="+mn-ea"/>
              <a:cs typeface="Arial"/>
            </a:endParaRPr>
          </a:p>
          <a:p>
            <a:pPr marL="342900" indent="-337820" defTabSz="914400">
              <a:lnSpc>
                <a:spcPct val="110000"/>
              </a:lnSpc>
              <a:spcBef>
                <a:spcPts val="500"/>
              </a:spcBef>
              <a:spcAft>
                <a:spcPts val="600"/>
              </a:spcAft>
              <a:buClr>
                <a:schemeClr val="accent6"/>
              </a:buClr>
              <a:buSzPct val="90000"/>
              <a:buFont typeface="Wingdings" panose="05000000000000000000" pitchFamily="2" charset="2"/>
              <a:buChar char="§"/>
            </a:pPr>
            <a:r>
              <a:rPr lang="en-US" sz="1600">
                <a:solidFill>
                  <a:schemeClr val="tx1"/>
                </a:solidFill>
                <a:latin typeface="+mn-lt"/>
                <a:ea typeface="+mn-ea"/>
                <a:cs typeface="+mn-cs"/>
              </a:rPr>
              <a:t>Tesla won’t have as green of a footprint as you initially thought, now you have to invest in solar panels if you decide to buy the house</a:t>
            </a:r>
            <a:endParaRPr lang="en-US" sz="1600">
              <a:solidFill>
                <a:schemeClr val="tx1"/>
              </a:solidFill>
              <a:latin typeface="+mn-lt"/>
              <a:ea typeface="+mn-ea"/>
              <a:cs typeface="Arial"/>
            </a:endParaRPr>
          </a:p>
        </p:txBody>
      </p:sp>
      <p:pic>
        <p:nvPicPr>
          <p:cNvPr id="5" name="Picture 4">
            <a:extLst>
              <a:ext uri="{FF2B5EF4-FFF2-40B4-BE49-F238E27FC236}">
                <a16:creationId xmlns:a16="http://schemas.microsoft.com/office/drawing/2014/main" id="{54DB0B5A-2121-A519-05E4-FF8A676245D6}"/>
              </a:ext>
            </a:extLst>
          </p:cNvPr>
          <p:cNvPicPr>
            <a:picLocks noChangeAspect="1"/>
          </p:cNvPicPr>
          <p:nvPr/>
        </p:nvPicPr>
        <p:blipFill>
          <a:blip r:embed="rId2"/>
          <a:srcRect r="5230" b="-1006"/>
          <a:stretch/>
        </p:blipFill>
        <p:spPr>
          <a:xfrm>
            <a:off x="4856090" y="933782"/>
            <a:ext cx="6526555" cy="5732773"/>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pic>
        <p:nvPicPr>
          <p:cNvPr id="7" name="Picture 6">
            <a:extLst>
              <a:ext uri="{FF2B5EF4-FFF2-40B4-BE49-F238E27FC236}">
                <a16:creationId xmlns:a16="http://schemas.microsoft.com/office/drawing/2014/main" id="{3E75C78B-9891-9CDA-AAA8-D302B9EC5404}"/>
              </a:ext>
            </a:extLst>
          </p:cNvPr>
          <p:cNvPicPr>
            <a:picLocks noChangeAspect="1"/>
          </p:cNvPicPr>
          <p:nvPr/>
        </p:nvPicPr>
        <p:blipFill>
          <a:blip r:embed="rId3"/>
          <a:srcRect b="4112"/>
          <a:stretch/>
        </p:blipFill>
        <p:spPr>
          <a:xfrm>
            <a:off x="10032300" y="355457"/>
            <a:ext cx="2016134" cy="2197942"/>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Tree>
    <p:extLst>
      <p:ext uri="{BB962C8B-B14F-4D97-AF65-F5344CB8AC3E}">
        <p14:creationId xmlns:p14="http://schemas.microsoft.com/office/powerpoint/2010/main" val="1086421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2882F-D3F5-3E1A-3108-EF2F47E11D3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294FFF0-92E1-F1A8-6411-BBB800275FCF}"/>
              </a:ext>
            </a:extLst>
          </p:cNvPr>
          <p:cNvSpPr txBox="1">
            <a:spLocks/>
          </p:cNvSpPr>
          <p:nvPr/>
        </p:nvSpPr>
        <p:spPr>
          <a:xfrm>
            <a:off x="1393825" y="458788"/>
            <a:ext cx="9404350" cy="67786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ctr"/>
            <a:r>
              <a:rPr lang="en-US"/>
              <a:t>Individual Power Source Trends</a:t>
            </a:r>
          </a:p>
        </p:txBody>
      </p:sp>
      <p:pic>
        <p:nvPicPr>
          <p:cNvPr id="10" name="Picture 9" descr="A screenshot of a graph&#10;&#10;AI-generated content may be incorrect.">
            <a:extLst>
              <a:ext uri="{FF2B5EF4-FFF2-40B4-BE49-F238E27FC236}">
                <a16:creationId xmlns:a16="http://schemas.microsoft.com/office/drawing/2014/main" id="{5D69C242-605B-CF51-FB6B-23BFA28C5ECE}"/>
              </a:ext>
            </a:extLst>
          </p:cNvPr>
          <p:cNvPicPr>
            <a:picLocks noChangeAspect="1"/>
          </p:cNvPicPr>
          <p:nvPr/>
        </p:nvPicPr>
        <p:blipFill>
          <a:blip r:embed="rId2"/>
          <a:stretch>
            <a:fillRect/>
          </a:stretch>
        </p:blipFill>
        <p:spPr>
          <a:xfrm>
            <a:off x="451272" y="1717637"/>
            <a:ext cx="7182042" cy="4575083"/>
          </a:xfrm>
          <a:prstGeom prst="rect">
            <a:avLst/>
          </a:prstGeom>
        </p:spPr>
      </p:pic>
      <p:sp>
        <p:nvSpPr>
          <p:cNvPr id="12" name="Title 1">
            <a:extLst>
              <a:ext uri="{FF2B5EF4-FFF2-40B4-BE49-F238E27FC236}">
                <a16:creationId xmlns:a16="http://schemas.microsoft.com/office/drawing/2014/main" id="{F88E56C2-C930-AF1C-5238-FEEA424AB6D8}"/>
              </a:ext>
            </a:extLst>
          </p:cNvPr>
          <p:cNvSpPr txBox="1">
            <a:spLocks/>
          </p:cNvSpPr>
          <p:nvPr/>
        </p:nvSpPr>
        <p:spPr>
          <a:xfrm>
            <a:off x="8074806" y="1717637"/>
            <a:ext cx="3539172" cy="372633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a:t>Quick Insights:</a:t>
            </a:r>
            <a:endParaRPr lang="en-US" sz="1800">
              <a:cs typeface="Arial"/>
            </a:endParaRPr>
          </a:p>
          <a:p>
            <a:pPr marL="342900" indent="-342900">
              <a:buFont typeface="Arial" panose="020B0604020202020204" pitchFamily="34" charset="0"/>
              <a:buChar char="•"/>
            </a:pPr>
            <a:r>
              <a:rPr lang="en-US" sz="1800"/>
              <a:t>Dips in Solar Production around March 7</a:t>
            </a:r>
            <a:r>
              <a:rPr lang="en-US" sz="1800" baseline="30000"/>
              <a:t>th</a:t>
            </a:r>
            <a:r>
              <a:rPr lang="en-US" sz="1800"/>
              <a:t> &amp; 14</a:t>
            </a:r>
            <a:r>
              <a:rPr lang="en-US" sz="1800" baseline="30000"/>
              <a:t>th</a:t>
            </a:r>
            <a:r>
              <a:rPr lang="en-US" sz="1800"/>
              <a:t> </a:t>
            </a:r>
            <a:endParaRPr lang="en-US" sz="1800">
              <a:cs typeface="Arial"/>
            </a:endParaRPr>
          </a:p>
          <a:p>
            <a:pPr marL="342900" indent="-342900">
              <a:buFont typeface="Arial" panose="020B0604020202020204" pitchFamily="34" charset="0"/>
              <a:buChar char="•"/>
            </a:pPr>
            <a:r>
              <a:rPr lang="en-US" sz="1800"/>
              <a:t>Peak Solar production around March 9</a:t>
            </a:r>
            <a:r>
              <a:rPr lang="en-US" sz="1800" baseline="30000"/>
              <a:t>th</a:t>
            </a:r>
            <a:r>
              <a:rPr lang="en-US" sz="1800"/>
              <a:t> &amp; 18</a:t>
            </a:r>
            <a:r>
              <a:rPr lang="en-US" sz="1800" baseline="30000"/>
              <a:t>th</a:t>
            </a:r>
            <a:r>
              <a:rPr lang="en-US" sz="1800"/>
              <a:t> </a:t>
            </a:r>
            <a:endParaRPr lang="en-US" sz="1800">
              <a:cs typeface="Arial"/>
            </a:endParaRPr>
          </a:p>
          <a:p>
            <a:pPr marL="342900" indent="-342900">
              <a:buFont typeface="Arial" panose="020B0604020202020204" pitchFamily="34" charset="0"/>
              <a:buChar char="•"/>
            </a:pPr>
            <a:r>
              <a:rPr lang="en-US" sz="1800"/>
              <a:t>Maybe I should try charging my tesla on sunnier days and make sure I don’t leave my  lights on when I know it’s going to be cloudy</a:t>
            </a:r>
            <a:endParaRPr lang="en-US" sz="1800">
              <a:cs typeface="Arial"/>
            </a:endParaRPr>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endParaRPr lang="en-US" sz="2400"/>
          </a:p>
        </p:txBody>
      </p:sp>
    </p:spTree>
    <p:extLst>
      <p:ext uri="{BB962C8B-B14F-4D97-AF65-F5344CB8AC3E}">
        <p14:creationId xmlns:p14="http://schemas.microsoft.com/office/powerpoint/2010/main" val="4195519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B7F16-CA29-C427-1177-F3B627FC0A9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7AE2924-A07B-5469-644F-6FA7641E896B}"/>
              </a:ext>
            </a:extLst>
          </p:cNvPr>
          <p:cNvSpPr txBox="1">
            <a:spLocks/>
          </p:cNvSpPr>
          <p:nvPr/>
        </p:nvSpPr>
        <p:spPr>
          <a:xfrm>
            <a:off x="1393825" y="458788"/>
            <a:ext cx="9404350" cy="67786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a:lstStyle>
          <a:p>
            <a:pPr algn="ctr"/>
            <a:r>
              <a:rPr lang="en-US">
                <a:cs typeface="Arial"/>
              </a:rPr>
              <a:t>Weather Check</a:t>
            </a:r>
            <a:endParaRPr lang="en-US"/>
          </a:p>
        </p:txBody>
      </p:sp>
      <p:sp>
        <p:nvSpPr>
          <p:cNvPr id="12" name="Title 1">
            <a:extLst>
              <a:ext uri="{FF2B5EF4-FFF2-40B4-BE49-F238E27FC236}">
                <a16:creationId xmlns:a16="http://schemas.microsoft.com/office/drawing/2014/main" id="{1A676170-B9DA-0FE0-96F5-E726792B33D7}"/>
              </a:ext>
            </a:extLst>
          </p:cNvPr>
          <p:cNvSpPr txBox="1">
            <a:spLocks/>
          </p:cNvSpPr>
          <p:nvPr/>
        </p:nvSpPr>
        <p:spPr>
          <a:xfrm>
            <a:off x="1540656" y="1374737"/>
            <a:ext cx="3291522" cy="2945284"/>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a:ea typeface="+mj-lt"/>
                <a:cs typeface="+mj-lt"/>
              </a:rPr>
              <a:t>From:</a:t>
            </a:r>
            <a:endParaRPr lang="en-US">
              <a:ea typeface="+mj-lt"/>
              <a:cs typeface="+mj-lt"/>
            </a:endParaRPr>
          </a:p>
          <a:p>
            <a:r>
              <a:rPr lang="en-US" sz="1800">
                <a:ea typeface="+mj-lt"/>
                <a:cs typeface="+mj-lt"/>
                <a:hlinkClick r:id="rId2"/>
              </a:rPr>
              <a:t>https://www.wunderground.com/calendar/us/az/phoenix/KPHX/date/2025-3</a:t>
            </a:r>
            <a:r>
              <a:rPr lang="en-US" sz="1800">
                <a:ea typeface="+mj-lt"/>
                <a:cs typeface="+mj-lt"/>
              </a:rPr>
              <a:t> </a:t>
            </a:r>
            <a:endParaRPr lang="en-US">
              <a:cs typeface="Arial" panose="020B0604020202020204"/>
            </a:endParaRPr>
          </a:p>
          <a:p>
            <a:r>
              <a:rPr lang="en-US" sz="1800">
                <a:cs typeface="Arial"/>
              </a:rPr>
              <a:t>Simply used to verify Solar production example seen in previous slide</a:t>
            </a:r>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endParaRPr lang="en-US" sz="2400">
              <a:cs typeface="Arial" panose="020B0604020202020204"/>
            </a:endParaRPr>
          </a:p>
        </p:txBody>
      </p:sp>
      <p:pic>
        <p:nvPicPr>
          <p:cNvPr id="2" name="Picture 1" descr="A calendar with weather forecasts&#10;&#10;AI-generated content may be incorrect.">
            <a:extLst>
              <a:ext uri="{FF2B5EF4-FFF2-40B4-BE49-F238E27FC236}">
                <a16:creationId xmlns:a16="http://schemas.microsoft.com/office/drawing/2014/main" id="{DEE297A7-717A-F3CA-FA53-472123ECF6E2}"/>
              </a:ext>
            </a:extLst>
          </p:cNvPr>
          <p:cNvPicPr>
            <a:picLocks noChangeAspect="1"/>
          </p:cNvPicPr>
          <p:nvPr/>
        </p:nvPicPr>
        <p:blipFill>
          <a:blip r:embed="rId3"/>
          <a:stretch>
            <a:fillRect/>
          </a:stretch>
        </p:blipFill>
        <p:spPr>
          <a:xfrm>
            <a:off x="5121946" y="1371600"/>
            <a:ext cx="5691432" cy="5172075"/>
          </a:xfrm>
          <a:prstGeom prst="rect">
            <a:avLst/>
          </a:prstGeom>
        </p:spPr>
      </p:pic>
    </p:spTree>
    <p:extLst>
      <p:ext uri="{BB962C8B-B14F-4D97-AF65-F5344CB8AC3E}">
        <p14:creationId xmlns:p14="http://schemas.microsoft.com/office/powerpoint/2010/main" val="4003637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A98C7-26B0-88C6-29CB-6266F49CF93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6F9AD34-A9ED-B8C5-FBC6-430BA46D18E8}"/>
              </a:ext>
            </a:extLst>
          </p:cNvPr>
          <p:cNvSpPr>
            <a:spLocks noGrp="1"/>
          </p:cNvSpPr>
          <p:nvPr>
            <p:ph type="title"/>
          </p:nvPr>
        </p:nvSpPr>
        <p:spPr>
          <a:xfrm>
            <a:off x="297768" y="189654"/>
            <a:ext cx="9404723" cy="914528"/>
          </a:xfrm>
        </p:spPr>
        <p:txBody>
          <a:bodyPr/>
          <a:lstStyle/>
          <a:p>
            <a:r>
              <a:rPr lang="en-US"/>
              <a:t>Individual Power Source Trends</a:t>
            </a:r>
          </a:p>
        </p:txBody>
      </p:sp>
      <p:sp>
        <p:nvSpPr>
          <p:cNvPr id="5" name="Title 1">
            <a:extLst>
              <a:ext uri="{FF2B5EF4-FFF2-40B4-BE49-F238E27FC236}">
                <a16:creationId xmlns:a16="http://schemas.microsoft.com/office/drawing/2014/main" id="{9477CFDA-32FE-9ACC-D3B1-D0965377274D}"/>
              </a:ext>
            </a:extLst>
          </p:cNvPr>
          <p:cNvSpPr txBox="1">
            <a:spLocks/>
          </p:cNvSpPr>
          <p:nvPr/>
        </p:nvSpPr>
        <p:spPr>
          <a:xfrm>
            <a:off x="615920" y="920080"/>
            <a:ext cx="10965419" cy="131869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a:t>Rolling Window Slider:</a:t>
            </a:r>
          </a:p>
          <a:p>
            <a:r>
              <a:rPr lang="en-US" sz="2000"/>
              <a:t>Suggested use on larger date range (over a year), to smooth out noisy graphs. Though window size can go up to total date range, too large of a window can result in significant data loss and inaccurate graphs. </a:t>
            </a:r>
            <a:endParaRPr lang="en-US" sz="2000">
              <a:cs typeface="Arial"/>
            </a:endParaRPr>
          </a:p>
          <a:p>
            <a:endParaRPr lang="en-US" sz="2000"/>
          </a:p>
          <a:p>
            <a:r>
              <a:rPr lang="en-US" sz="2000"/>
              <a:t>Ex. 01/01/2024 – 01/01/2025</a:t>
            </a:r>
            <a:endParaRPr lang="en-US" sz="2000">
              <a:cs typeface="Arial"/>
            </a:endParaRPr>
          </a:p>
        </p:txBody>
      </p:sp>
      <p:pic>
        <p:nvPicPr>
          <p:cNvPr id="7" name="Picture 6" descr="A screenshot of a graph&#10;&#10;AI-generated content may be incorrect.">
            <a:extLst>
              <a:ext uri="{FF2B5EF4-FFF2-40B4-BE49-F238E27FC236}">
                <a16:creationId xmlns:a16="http://schemas.microsoft.com/office/drawing/2014/main" id="{3E5E186D-53B7-08FE-6B04-24D54632C6D2}"/>
              </a:ext>
            </a:extLst>
          </p:cNvPr>
          <p:cNvPicPr>
            <a:picLocks noChangeAspect="1"/>
          </p:cNvPicPr>
          <p:nvPr/>
        </p:nvPicPr>
        <p:blipFill>
          <a:blip r:embed="rId2"/>
          <a:stretch>
            <a:fillRect/>
          </a:stretch>
        </p:blipFill>
        <p:spPr>
          <a:xfrm>
            <a:off x="136391" y="3097832"/>
            <a:ext cx="6060887" cy="3579203"/>
          </a:xfrm>
          <a:prstGeom prst="rect">
            <a:avLst/>
          </a:prstGeom>
        </p:spPr>
      </p:pic>
      <p:pic>
        <p:nvPicPr>
          <p:cNvPr id="9" name="Picture 8" descr="A screen shot of a graph&#10;&#10;AI-generated content may be incorrect.">
            <a:extLst>
              <a:ext uri="{FF2B5EF4-FFF2-40B4-BE49-F238E27FC236}">
                <a16:creationId xmlns:a16="http://schemas.microsoft.com/office/drawing/2014/main" id="{07A2086B-1768-D497-0164-E9B96555FBEF}"/>
              </a:ext>
            </a:extLst>
          </p:cNvPr>
          <p:cNvPicPr>
            <a:picLocks noChangeAspect="1"/>
          </p:cNvPicPr>
          <p:nvPr/>
        </p:nvPicPr>
        <p:blipFill>
          <a:blip r:embed="rId3"/>
          <a:stretch>
            <a:fillRect/>
          </a:stretch>
        </p:blipFill>
        <p:spPr>
          <a:xfrm>
            <a:off x="6286964" y="3101327"/>
            <a:ext cx="5811465" cy="3575708"/>
          </a:xfrm>
          <a:prstGeom prst="rect">
            <a:avLst/>
          </a:prstGeom>
        </p:spPr>
      </p:pic>
    </p:spTree>
    <p:extLst>
      <p:ext uri="{BB962C8B-B14F-4D97-AF65-F5344CB8AC3E}">
        <p14:creationId xmlns:p14="http://schemas.microsoft.com/office/powerpoint/2010/main" val="2123559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A6698-594C-61B7-62A1-792E4C5BBA5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6D66E5F-9543-DCB8-E620-C5FFE4FD3718}"/>
              </a:ext>
            </a:extLst>
          </p:cNvPr>
          <p:cNvSpPr>
            <a:spLocks noGrp="1"/>
          </p:cNvSpPr>
          <p:nvPr>
            <p:ph type="title"/>
          </p:nvPr>
        </p:nvSpPr>
        <p:spPr>
          <a:xfrm>
            <a:off x="297768" y="189654"/>
            <a:ext cx="9404723" cy="914528"/>
          </a:xfrm>
        </p:spPr>
        <p:txBody>
          <a:bodyPr/>
          <a:lstStyle/>
          <a:p>
            <a:pPr algn="l"/>
            <a:r>
              <a:rPr lang="en-US"/>
              <a:t>Energy Demand</a:t>
            </a:r>
          </a:p>
        </p:txBody>
      </p:sp>
      <p:sp>
        <p:nvSpPr>
          <p:cNvPr id="5" name="Title 1">
            <a:extLst>
              <a:ext uri="{FF2B5EF4-FFF2-40B4-BE49-F238E27FC236}">
                <a16:creationId xmlns:a16="http://schemas.microsoft.com/office/drawing/2014/main" id="{A590E05D-5C7A-7D35-8599-77C9F9A476C0}"/>
              </a:ext>
            </a:extLst>
          </p:cNvPr>
          <p:cNvSpPr txBox="1">
            <a:spLocks/>
          </p:cNvSpPr>
          <p:nvPr/>
        </p:nvSpPr>
        <p:spPr>
          <a:xfrm>
            <a:off x="625689" y="1154542"/>
            <a:ext cx="10965419" cy="131869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a:t>Consumer demand from the utility provider by days.</a:t>
            </a:r>
          </a:p>
          <a:p>
            <a:endParaRPr lang="en-US" sz="2000"/>
          </a:p>
          <a:p>
            <a:r>
              <a:rPr lang="en-US" sz="2000">
                <a:cs typeface="Arial" panose="020B0604020202020204"/>
              </a:rPr>
              <a:t>One month:</a:t>
            </a:r>
            <a:endParaRPr lang="en-US" sz="2000"/>
          </a:p>
          <a:p>
            <a:r>
              <a:rPr lang="en-US" sz="2000"/>
              <a:t>Ex. 03/01/2025 – 04/01/2025  </a:t>
            </a:r>
          </a:p>
          <a:p>
            <a:endParaRPr lang="en-US" sz="2000">
              <a:cs typeface="Arial"/>
            </a:endParaRPr>
          </a:p>
        </p:txBody>
      </p:sp>
      <p:sp>
        <p:nvSpPr>
          <p:cNvPr id="7" name="TextBox 6">
            <a:extLst>
              <a:ext uri="{FF2B5EF4-FFF2-40B4-BE49-F238E27FC236}">
                <a16:creationId xmlns:a16="http://schemas.microsoft.com/office/drawing/2014/main" id="{719C422A-1AAC-48E0-F2E5-3D8D169587F8}"/>
              </a:ext>
            </a:extLst>
          </p:cNvPr>
          <p:cNvSpPr txBox="1"/>
          <p:nvPr/>
        </p:nvSpPr>
        <p:spPr>
          <a:xfrm>
            <a:off x="625957" y="2566105"/>
            <a:ext cx="5470770" cy="1477328"/>
          </a:xfrm>
          <a:prstGeom prst="rect">
            <a:avLst/>
          </a:prstGeom>
          <a:noFill/>
        </p:spPr>
        <p:txBody>
          <a:bodyPr wrap="square" lIns="91440" tIns="45720" rIns="91440" bIns="45720" anchor="t">
            <a:spAutoFit/>
          </a:bodyPr>
          <a:lstStyle/>
          <a:p>
            <a:r>
              <a:rPr lang="en-US" sz="1800"/>
              <a:t>Quick Insights:</a:t>
            </a:r>
          </a:p>
          <a:p>
            <a:pPr marL="342900" indent="-342900">
              <a:buFont typeface="Arial,Sans-Serif" panose="020B0604020202020204" pitchFamily="34" charset="0"/>
              <a:buChar char="•"/>
            </a:pPr>
            <a:r>
              <a:rPr lang="en-US">
                <a:cs typeface="Arial"/>
              </a:rPr>
              <a:t>Big spikes in Energy Demand starting after March 21st </a:t>
            </a:r>
          </a:p>
          <a:p>
            <a:pPr marL="342900" indent="-342900">
              <a:buFont typeface="Arial,Sans-Serif" panose="020B0604020202020204" pitchFamily="34" charset="0"/>
              <a:buChar char="•"/>
            </a:pPr>
            <a:r>
              <a:rPr lang="en-US">
                <a:cs typeface="Arial"/>
              </a:rPr>
              <a:t>Could it be Arizona Spring Temperatures that convinced many to turn on their AC? </a:t>
            </a:r>
          </a:p>
        </p:txBody>
      </p:sp>
      <p:pic>
        <p:nvPicPr>
          <p:cNvPr id="4" name="Picture 3" descr="A graph showing the amount of energy&#10;&#10;AI-generated content may be incorrect.">
            <a:extLst>
              <a:ext uri="{FF2B5EF4-FFF2-40B4-BE49-F238E27FC236}">
                <a16:creationId xmlns:a16="http://schemas.microsoft.com/office/drawing/2014/main" id="{73A5FE8F-34E3-955E-9A7D-FA1BA11BF57E}"/>
              </a:ext>
            </a:extLst>
          </p:cNvPr>
          <p:cNvPicPr>
            <a:picLocks noChangeAspect="1"/>
          </p:cNvPicPr>
          <p:nvPr/>
        </p:nvPicPr>
        <p:blipFill>
          <a:blip r:embed="rId2"/>
          <a:stretch>
            <a:fillRect/>
          </a:stretch>
        </p:blipFill>
        <p:spPr>
          <a:xfrm>
            <a:off x="6420472" y="2382734"/>
            <a:ext cx="3915463" cy="3833891"/>
          </a:xfrm>
          <a:prstGeom prst="rect">
            <a:avLst/>
          </a:prstGeom>
        </p:spPr>
      </p:pic>
    </p:spTree>
    <p:extLst>
      <p:ext uri="{BB962C8B-B14F-4D97-AF65-F5344CB8AC3E}">
        <p14:creationId xmlns:p14="http://schemas.microsoft.com/office/powerpoint/2010/main" val="1167148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18559-2BA5-694B-326C-E9169F113AD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88352E34-5FED-8806-ADC9-653C66B05829}"/>
              </a:ext>
            </a:extLst>
          </p:cNvPr>
          <p:cNvSpPr>
            <a:spLocks noGrp="1"/>
          </p:cNvSpPr>
          <p:nvPr>
            <p:ph type="title"/>
          </p:nvPr>
        </p:nvSpPr>
        <p:spPr>
          <a:xfrm>
            <a:off x="297768" y="189654"/>
            <a:ext cx="9404723" cy="914528"/>
          </a:xfrm>
        </p:spPr>
        <p:txBody>
          <a:bodyPr/>
          <a:lstStyle/>
          <a:p>
            <a:pPr algn="l"/>
            <a:r>
              <a:rPr lang="en-US"/>
              <a:t>Energy Demand</a:t>
            </a:r>
          </a:p>
        </p:txBody>
      </p:sp>
      <p:sp>
        <p:nvSpPr>
          <p:cNvPr id="5" name="Title 1">
            <a:extLst>
              <a:ext uri="{FF2B5EF4-FFF2-40B4-BE49-F238E27FC236}">
                <a16:creationId xmlns:a16="http://schemas.microsoft.com/office/drawing/2014/main" id="{3FA7FEE3-A79E-6CED-0CEC-325F36F4F4BC}"/>
              </a:ext>
            </a:extLst>
          </p:cNvPr>
          <p:cNvSpPr txBox="1">
            <a:spLocks/>
          </p:cNvSpPr>
          <p:nvPr/>
        </p:nvSpPr>
        <p:spPr>
          <a:xfrm>
            <a:off x="625689" y="1154542"/>
            <a:ext cx="10965419" cy="131869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a:t>Consumer demand from the utility provider by days.</a:t>
            </a:r>
          </a:p>
          <a:p>
            <a:endParaRPr lang="en-US" sz="2000"/>
          </a:p>
          <a:p>
            <a:r>
              <a:rPr lang="en-US" sz="2000">
                <a:cs typeface="Arial" panose="020B0604020202020204"/>
              </a:rPr>
              <a:t>One Year</a:t>
            </a:r>
            <a:endParaRPr lang="en-US" sz="2000"/>
          </a:p>
          <a:p>
            <a:r>
              <a:rPr lang="en-US" sz="2000"/>
              <a:t>Ex. 01/01/2024 – 01/01/2025  </a:t>
            </a:r>
            <a:endParaRPr lang="en-US"/>
          </a:p>
        </p:txBody>
      </p:sp>
      <p:sp>
        <p:nvSpPr>
          <p:cNvPr id="7" name="TextBox 6">
            <a:extLst>
              <a:ext uri="{FF2B5EF4-FFF2-40B4-BE49-F238E27FC236}">
                <a16:creationId xmlns:a16="http://schemas.microsoft.com/office/drawing/2014/main" id="{64BBFF00-5531-5EAA-8D2D-490518549B19}"/>
              </a:ext>
            </a:extLst>
          </p:cNvPr>
          <p:cNvSpPr txBox="1"/>
          <p:nvPr/>
        </p:nvSpPr>
        <p:spPr>
          <a:xfrm>
            <a:off x="635138" y="2575286"/>
            <a:ext cx="5470770" cy="2031325"/>
          </a:xfrm>
          <a:prstGeom prst="rect">
            <a:avLst/>
          </a:prstGeom>
          <a:noFill/>
        </p:spPr>
        <p:txBody>
          <a:bodyPr wrap="square" lIns="91440" tIns="45720" rIns="91440" bIns="45720" anchor="t">
            <a:spAutoFit/>
          </a:bodyPr>
          <a:lstStyle/>
          <a:p>
            <a:r>
              <a:rPr lang="en-US" sz="1800"/>
              <a:t>Quick Insights:</a:t>
            </a:r>
          </a:p>
          <a:p>
            <a:pPr marL="285750" indent="-285750">
              <a:buFont typeface="Arial" panose="020B0604020202020204" pitchFamily="34" charset="0"/>
              <a:buChar char="•"/>
            </a:pPr>
            <a:r>
              <a:rPr lang="en-US" sz="1800"/>
              <a:t>Energy Demand is</a:t>
            </a:r>
            <a:r>
              <a:rPr lang="en-US"/>
              <a:t> much higher during the summer months, likely due to AC use. </a:t>
            </a:r>
            <a:endParaRPr lang="en-US">
              <a:cs typeface="Arial"/>
            </a:endParaRPr>
          </a:p>
          <a:p>
            <a:pPr marL="285750" indent="-285750">
              <a:buFont typeface="Arial" panose="020B0604020202020204" pitchFamily="34" charset="0"/>
              <a:buChar char="•"/>
            </a:pPr>
            <a:r>
              <a:rPr lang="en-US"/>
              <a:t>And just as we saw in this year’s March data it seems that last year Energy began to spike around the same time. </a:t>
            </a:r>
            <a:endParaRPr lang="en-US">
              <a:cs typeface="Arial" panose="020B0604020202020204"/>
            </a:endParaRPr>
          </a:p>
          <a:p>
            <a:pPr marL="285750" indent="-285750">
              <a:buFont typeface="Arial" panose="020B0604020202020204" pitchFamily="34" charset="0"/>
              <a:buChar char="•"/>
            </a:pPr>
            <a:endParaRPr lang="en-US" sz="1800"/>
          </a:p>
        </p:txBody>
      </p:sp>
      <p:pic>
        <p:nvPicPr>
          <p:cNvPr id="9" name="Picture 8" descr="A graph of energy demand&#10;&#10;AI-generated content may be incorrect.">
            <a:extLst>
              <a:ext uri="{FF2B5EF4-FFF2-40B4-BE49-F238E27FC236}">
                <a16:creationId xmlns:a16="http://schemas.microsoft.com/office/drawing/2014/main" id="{0C955AFD-658C-BE88-B6D3-EFF75EA93348}"/>
              </a:ext>
            </a:extLst>
          </p:cNvPr>
          <p:cNvPicPr>
            <a:picLocks noChangeAspect="1"/>
          </p:cNvPicPr>
          <p:nvPr/>
        </p:nvPicPr>
        <p:blipFill>
          <a:blip r:embed="rId2"/>
          <a:stretch>
            <a:fillRect/>
          </a:stretch>
        </p:blipFill>
        <p:spPr>
          <a:xfrm>
            <a:off x="6191460" y="1815132"/>
            <a:ext cx="5460496" cy="4849551"/>
          </a:xfrm>
          <a:prstGeom prst="rect">
            <a:avLst/>
          </a:prstGeom>
        </p:spPr>
      </p:pic>
    </p:spTree>
    <p:extLst>
      <p:ext uri="{BB962C8B-B14F-4D97-AF65-F5344CB8AC3E}">
        <p14:creationId xmlns:p14="http://schemas.microsoft.com/office/powerpoint/2010/main" val="3849169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9446E-2E0F-9BF4-BCD5-31E41E8CE1D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8FAAA5F-A72E-212B-45DA-E346AA7A5171}"/>
              </a:ext>
            </a:extLst>
          </p:cNvPr>
          <p:cNvSpPr>
            <a:spLocks noGrp="1"/>
          </p:cNvSpPr>
          <p:nvPr>
            <p:ph type="title"/>
          </p:nvPr>
        </p:nvSpPr>
        <p:spPr>
          <a:xfrm>
            <a:off x="1221158" y="369906"/>
            <a:ext cx="7958331" cy="543829"/>
          </a:xfrm>
        </p:spPr>
        <p:txBody>
          <a:bodyPr>
            <a:normAutofit fontScale="90000"/>
          </a:bodyPr>
          <a:lstStyle/>
          <a:p>
            <a:pPr algn="l"/>
            <a:r>
              <a:rPr lang="en-US">
                <a:cs typeface="Arial"/>
              </a:rPr>
              <a:t>Hourly Demand</a:t>
            </a:r>
            <a:endParaRPr lang="en-US"/>
          </a:p>
        </p:txBody>
      </p:sp>
      <p:sp>
        <p:nvSpPr>
          <p:cNvPr id="4" name="Title 1">
            <a:extLst>
              <a:ext uri="{FF2B5EF4-FFF2-40B4-BE49-F238E27FC236}">
                <a16:creationId xmlns:a16="http://schemas.microsoft.com/office/drawing/2014/main" id="{ED5D29DC-1C0D-C56F-9418-ABD30099CF86}"/>
              </a:ext>
            </a:extLst>
          </p:cNvPr>
          <p:cNvSpPr txBox="1">
            <a:spLocks/>
          </p:cNvSpPr>
          <p:nvPr/>
        </p:nvSpPr>
        <p:spPr>
          <a:xfrm>
            <a:off x="1225764" y="916417"/>
            <a:ext cx="10965419" cy="131869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a:t>Hourly demand by daily average</a:t>
            </a:r>
          </a:p>
          <a:p>
            <a:endParaRPr lang="en-US" sz="2000"/>
          </a:p>
          <a:p>
            <a:endParaRPr lang="en-US" sz="2000"/>
          </a:p>
          <a:p>
            <a:r>
              <a:rPr lang="en-US" sz="2000"/>
              <a:t>Ex. 01/01/2024 – 01/01/2025  </a:t>
            </a:r>
          </a:p>
        </p:txBody>
      </p:sp>
      <p:pic>
        <p:nvPicPr>
          <p:cNvPr id="7" name="Picture 6" descr="A graph showing the growth of energy&#10;&#10;AI-generated content may be incorrect.">
            <a:extLst>
              <a:ext uri="{FF2B5EF4-FFF2-40B4-BE49-F238E27FC236}">
                <a16:creationId xmlns:a16="http://schemas.microsoft.com/office/drawing/2014/main" id="{4F9E6A8B-DFB4-D562-0441-4413090B3FA8}"/>
              </a:ext>
            </a:extLst>
          </p:cNvPr>
          <p:cNvPicPr>
            <a:picLocks noChangeAspect="1"/>
          </p:cNvPicPr>
          <p:nvPr/>
        </p:nvPicPr>
        <p:blipFill>
          <a:blip r:embed="rId2"/>
          <a:stretch>
            <a:fillRect/>
          </a:stretch>
        </p:blipFill>
        <p:spPr>
          <a:xfrm>
            <a:off x="1325335" y="2466412"/>
            <a:ext cx="4033049" cy="4043107"/>
          </a:xfrm>
          <a:prstGeom prst="rect">
            <a:avLst/>
          </a:prstGeom>
        </p:spPr>
      </p:pic>
      <p:sp>
        <p:nvSpPr>
          <p:cNvPr id="9" name="TextBox 8">
            <a:extLst>
              <a:ext uri="{FF2B5EF4-FFF2-40B4-BE49-F238E27FC236}">
                <a16:creationId xmlns:a16="http://schemas.microsoft.com/office/drawing/2014/main" id="{4D13EFCC-02DC-2087-B937-F2A55371690F}"/>
              </a:ext>
            </a:extLst>
          </p:cNvPr>
          <p:cNvSpPr txBox="1"/>
          <p:nvPr/>
        </p:nvSpPr>
        <p:spPr>
          <a:xfrm>
            <a:off x="5683976" y="2466974"/>
            <a:ext cx="5305425" cy="1477328"/>
          </a:xfrm>
          <a:prstGeom prst="rect">
            <a:avLst/>
          </a:prstGeom>
          <a:noFill/>
        </p:spPr>
        <p:txBody>
          <a:bodyPr wrap="square">
            <a:spAutoFit/>
          </a:bodyPr>
          <a:lstStyle/>
          <a:p>
            <a:r>
              <a:rPr lang="en-US" sz="1800"/>
              <a:t>Quick Insights:</a:t>
            </a:r>
          </a:p>
          <a:p>
            <a:pPr marL="285750" indent="-285750">
              <a:buFont typeface="Arial" panose="020B0604020202020204" pitchFamily="34" charset="0"/>
              <a:buChar char="•"/>
            </a:pPr>
            <a:r>
              <a:rPr lang="en-US" sz="1800"/>
              <a:t>Peak use seems to be around </a:t>
            </a:r>
            <a:r>
              <a:rPr lang="en-US"/>
              <a:t>3 in the morning and steadily falls till around 12 before going back up.</a:t>
            </a:r>
            <a:endParaRPr lang="en-US" sz="1800"/>
          </a:p>
          <a:p>
            <a:pPr marL="285750" indent="-285750">
              <a:buFont typeface="Arial" panose="020B0604020202020204" pitchFamily="34" charset="0"/>
              <a:buChar char="•"/>
            </a:pPr>
            <a:endParaRPr lang="en-US" sz="1800"/>
          </a:p>
        </p:txBody>
      </p:sp>
    </p:spTree>
    <p:extLst>
      <p:ext uri="{BB962C8B-B14F-4D97-AF65-F5344CB8AC3E}">
        <p14:creationId xmlns:p14="http://schemas.microsoft.com/office/powerpoint/2010/main" val="570967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AEBE7-6A85-6E47-02C4-1C29626AE03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9A66F64-A54C-BE2A-062B-C7CAE2C1BE5E}"/>
              </a:ext>
            </a:extLst>
          </p:cNvPr>
          <p:cNvSpPr>
            <a:spLocks noGrp="1"/>
          </p:cNvSpPr>
          <p:nvPr>
            <p:ph type="title"/>
          </p:nvPr>
        </p:nvSpPr>
        <p:spPr>
          <a:xfrm>
            <a:off x="1221158" y="369906"/>
            <a:ext cx="7958331" cy="543829"/>
          </a:xfrm>
        </p:spPr>
        <p:txBody>
          <a:bodyPr>
            <a:normAutofit fontScale="90000"/>
          </a:bodyPr>
          <a:lstStyle/>
          <a:p>
            <a:pPr algn="l"/>
            <a:r>
              <a:rPr lang="en-US">
                <a:cs typeface="Arial"/>
              </a:rPr>
              <a:t>Predictions</a:t>
            </a:r>
            <a:endParaRPr lang="en-US"/>
          </a:p>
        </p:txBody>
      </p:sp>
      <p:sp>
        <p:nvSpPr>
          <p:cNvPr id="4" name="Title 1">
            <a:extLst>
              <a:ext uri="{FF2B5EF4-FFF2-40B4-BE49-F238E27FC236}">
                <a16:creationId xmlns:a16="http://schemas.microsoft.com/office/drawing/2014/main" id="{87A36DC6-596F-0BA5-D29C-44CC884E395F}"/>
              </a:ext>
            </a:extLst>
          </p:cNvPr>
          <p:cNvSpPr txBox="1">
            <a:spLocks/>
          </p:cNvSpPr>
          <p:nvPr/>
        </p:nvSpPr>
        <p:spPr>
          <a:xfrm>
            <a:off x="1225764" y="916417"/>
            <a:ext cx="10965419" cy="461442"/>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a:t>Based on comprehensive history of past trends</a:t>
            </a:r>
            <a:endParaRPr lang="en-US" sz="2000">
              <a:cs typeface="Arial"/>
            </a:endParaRPr>
          </a:p>
          <a:p>
            <a:endParaRPr lang="en-US" sz="2000"/>
          </a:p>
          <a:p>
            <a:endParaRPr lang="en-US" sz="2000"/>
          </a:p>
        </p:txBody>
      </p:sp>
      <p:sp>
        <p:nvSpPr>
          <p:cNvPr id="9" name="TextBox 8">
            <a:extLst>
              <a:ext uri="{FF2B5EF4-FFF2-40B4-BE49-F238E27FC236}">
                <a16:creationId xmlns:a16="http://schemas.microsoft.com/office/drawing/2014/main" id="{36D8D95C-8866-4700-CC7B-019991169D97}"/>
              </a:ext>
            </a:extLst>
          </p:cNvPr>
          <p:cNvSpPr txBox="1"/>
          <p:nvPr/>
        </p:nvSpPr>
        <p:spPr>
          <a:xfrm>
            <a:off x="8093801" y="1571624"/>
            <a:ext cx="3314700" cy="2308324"/>
          </a:xfrm>
          <a:prstGeom prst="rect">
            <a:avLst/>
          </a:prstGeom>
          <a:noFill/>
        </p:spPr>
        <p:txBody>
          <a:bodyPr wrap="square" lIns="91440" tIns="45720" rIns="91440" bIns="45720" anchor="t">
            <a:spAutoFit/>
          </a:bodyPr>
          <a:lstStyle/>
          <a:p>
            <a:r>
              <a:rPr lang="en-US" sz="1800"/>
              <a:t>Quick Insights:</a:t>
            </a:r>
          </a:p>
          <a:p>
            <a:pPr marL="285750" indent="-285750">
              <a:buFont typeface="Arial" panose="020B0604020202020204" pitchFamily="34" charset="0"/>
              <a:buChar char="•"/>
            </a:pPr>
            <a:r>
              <a:rPr lang="en-US">
                <a:cs typeface="Arial"/>
              </a:rPr>
              <a:t>Assuming spike in Solar power generation continues, these might be the general trends for solar power production in the following years </a:t>
            </a:r>
            <a:endParaRPr lang="en-US" sz="1800">
              <a:cs typeface="Arial"/>
            </a:endParaRPr>
          </a:p>
          <a:p>
            <a:pPr marL="285750" indent="-285750">
              <a:buFont typeface="Arial" panose="020B0604020202020204" pitchFamily="34" charset="0"/>
              <a:buChar char="•"/>
            </a:pPr>
            <a:endParaRPr lang="en-US" sz="1800">
              <a:cs typeface="Arial"/>
            </a:endParaRPr>
          </a:p>
        </p:txBody>
      </p:sp>
      <p:pic>
        <p:nvPicPr>
          <p:cNvPr id="2" name="Picture 1" descr="A graph with blue and red lines&#10;&#10;AI-generated content may be incorrect.">
            <a:extLst>
              <a:ext uri="{FF2B5EF4-FFF2-40B4-BE49-F238E27FC236}">
                <a16:creationId xmlns:a16="http://schemas.microsoft.com/office/drawing/2014/main" id="{F36C8292-7045-BAD6-C2AB-448FB1C4D6D4}"/>
              </a:ext>
            </a:extLst>
          </p:cNvPr>
          <p:cNvPicPr>
            <a:picLocks noChangeAspect="1"/>
          </p:cNvPicPr>
          <p:nvPr/>
        </p:nvPicPr>
        <p:blipFill>
          <a:blip r:embed="rId2"/>
          <a:stretch>
            <a:fillRect/>
          </a:stretch>
        </p:blipFill>
        <p:spPr>
          <a:xfrm>
            <a:off x="466725" y="2038350"/>
            <a:ext cx="7581900" cy="4476750"/>
          </a:xfrm>
          <a:prstGeom prst="rect">
            <a:avLst/>
          </a:prstGeom>
        </p:spPr>
      </p:pic>
      <p:sp>
        <p:nvSpPr>
          <p:cNvPr id="8" name="Title 1">
            <a:extLst>
              <a:ext uri="{FF2B5EF4-FFF2-40B4-BE49-F238E27FC236}">
                <a16:creationId xmlns:a16="http://schemas.microsoft.com/office/drawing/2014/main" id="{A096A897-233F-3532-F4A4-EC71308EE538}"/>
              </a:ext>
            </a:extLst>
          </p:cNvPr>
          <p:cNvSpPr txBox="1">
            <a:spLocks/>
          </p:cNvSpPr>
          <p:nvPr/>
        </p:nvSpPr>
        <p:spPr>
          <a:xfrm>
            <a:off x="463763" y="1573642"/>
            <a:ext cx="7431644" cy="509067"/>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a:cs typeface="Arial"/>
              </a:rPr>
              <a:t>Ex. 2019-2025 solar production data</a:t>
            </a:r>
          </a:p>
          <a:p>
            <a:endParaRPr lang="en-US" sz="2000"/>
          </a:p>
          <a:p>
            <a:endParaRPr lang="en-US" sz="2000"/>
          </a:p>
        </p:txBody>
      </p:sp>
    </p:spTree>
    <p:extLst>
      <p:ext uri="{BB962C8B-B14F-4D97-AF65-F5344CB8AC3E}">
        <p14:creationId xmlns:p14="http://schemas.microsoft.com/office/powerpoint/2010/main" val="2939660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166C9-72E5-12B8-ECFF-6EF6A296637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29B0EAA-43BF-FEFC-2709-E811606DE903}"/>
              </a:ext>
            </a:extLst>
          </p:cNvPr>
          <p:cNvSpPr>
            <a:spLocks noGrp="1"/>
          </p:cNvSpPr>
          <p:nvPr>
            <p:ph type="title"/>
          </p:nvPr>
        </p:nvSpPr>
        <p:spPr>
          <a:xfrm>
            <a:off x="1325933" y="817093"/>
            <a:ext cx="7968100" cy="686460"/>
          </a:xfrm>
        </p:spPr>
        <p:txBody>
          <a:bodyPr/>
          <a:lstStyle/>
          <a:p>
            <a:pPr algn="l"/>
            <a:r>
              <a:rPr lang="en-US">
                <a:cs typeface="Arial"/>
              </a:rPr>
              <a:t>Behind the scenes</a:t>
            </a:r>
          </a:p>
        </p:txBody>
      </p:sp>
      <p:sp>
        <p:nvSpPr>
          <p:cNvPr id="4" name="TextBox 3">
            <a:extLst>
              <a:ext uri="{FF2B5EF4-FFF2-40B4-BE49-F238E27FC236}">
                <a16:creationId xmlns:a16="http://schemas.microsoft.com/office/drawing/2014/main" id="{043ED967-1367-7510-51D9-0186C6CEA804}"/>
              </a:ext>
            </a:extLst>
          </p:cNvPr>
          <p:cNvSpPr txBox="1"/>
          <p:nvPr/>
        </p:nvSpPr>
        <p:spPr>
          <a:xfrm>
            <a:off x="1324673" y="1505233"/>
            <a:ext cx="4649030" cy="1200329"/>
          </a:xfrm>
          <a:prstGeom prst="rect">
            <a:avLst/>
          </a:prstGeom>
          <a:noFill/>
        </p:spPr>
        <p:txBody>
          <a:bodyPr wrap="none" rtlCol="0">
            <a:spAutoFit/>
          </a:bodyPr>
          <a:lstStyle/>
          <a:p>
            <a:r>
              <a:rPr lang="en-US"/>
              <a:t>Tools Used:</a:t>
            </a:r>
          </a:p>
          <a:p>
            <a:pPr marL="285750" indent="-285750">
              <a:buFont typeface="Arial" panose="020B0604020202020204" pitchFamily="34" charset="0"/>
              <a:buChar char="•"/>
            </a:pPr>
            <a:r>
              <a:rPr lang="en-US" b="1"/>
              <a:t>IDE: </a:t>
            </a:r>
            <a:r>
              <a:rPr lang="en-US"/>
              <a:t>Visual Studio</a:t>
            </a:r>
          </a:p>
          <a:p>
            <a:pPr marL="285750" indent="-285750">
              <a:buFont typeface="Arial" panose="020B0604020202020204" pitchFamily="34" charset="0"/>
              <a:buChar char="•"/>
            </a:pPr>
            <a:r>
              <a:rPr lang="en-US" b="1"/>
              <a:t>Language:</a:t>
            </a:r>
            <a:r>
              <a:rPr lang="en-US"/>
              <a:t> Python</a:t>
            </a:r>
          </a:p>
          <a:p>
            <a:pPr marL="285750" indent="-285750">
              <a:buFont typeface="Arial" panose="020B0604020202020204" pitchFamily="34" charset="0"/>
              <a:buChar char="•"/>
            </a:pPr>
            <a:r>
              <a:rPr lang="en-US" b="1"/>
              <a:t>WebApp Framework: </a:t>
            </a:r>
            <a:r>
              <a:rPr lang="en-US"/>
              <a:t>Shiny for Python</a:t>
            </a:r>
          </a:p>
        </p:txBody>
      </p:sp>
      <p:pic>
        <p:nvPicPr>
          <p:cNvPr id="7" name="Picture 6" descr="A computer screen shot of a program&#10;&#10;AI-generated content may be incorrect.">
            <a:extLst>
              <a:ext uri="{FF2B5EF4-FFF2-40B4-BE49-F238E27FC236}">
                <a16:creationId xmlns:a16="http://schemas.microsoft.com/office/drawing/2014/main" id="{AF4BA4D8-84C1-51EC-9EE7-0A930B745176}"/>
              </a:ext>
            </a:extLst>
          </p:cNvPr>
          <p:cNvPicPr>
            <a:picLocks noChangeAspect="1"/>
          </p:cNvPicPr>
          <p:nvPr/>
        </p:nvPicPr>
        <p:blipFill>
          <a:blip r:embed="rId2"/>
          <a:stretch>
            <a:fillRect/>
          </a:stretch>
        </p:blipFill>
        <p:spPr>
          <a:xfrm>
            <a:off x="1326016" y="2848325"/>
            <a:ext cx="6789870" cy="3566736"/>
          </a:xfrm>
          <a:prstGeom prst="rect">
            <a:avLst/>
          </a:prstGeom>
        </p:spPr>
      </p:pic>
    </p:spTree>
    <p:extLst>
      <p:ext uri="{BB962C8B-B14F-4D97-AF65-F5344CB8AC3E}">
        <p14:creationId xmlns:p14="http://schemas.microsoft.com/office/powerpoint/2010/main" val="2147878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67719-36BC-5B51-4BEC-5348FB39DE1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734C401-F25D-7A5B-12AC-E2FD0DBF1594}"/>
              </a:ext>
            </a:extLst>
          </p:cNvPr>
          <p:cNvSpPr>
            <a:spLocks noGrp="1"/>
          </p:cNvSpPr>
          <p:nvPr>
            <p:ph type="title"/>
          </p:nvPr>
        </p:nvSpPr>
        <p:spPr>
          <a:xfrm>
            <a:off x="1325933" y="836631"/>
            <a:ext cx="7958331" cy="1077229"/>
          </a:xfrm>
        </p:spPr>
        <p:txBody>
          <a:bodyPr/>
          <a:lstStyle/>
          <a:p>
            <a:pPr algn="l"/>
            <a:r>
              <a:rPr lang="en-US"/>
              <a:t>Objectives</a:t>
            </a:r>
          </a:p>
        </p:txBody>
      </p:sp>
      <p:sp>
        <p:nvSpPr>
          <p:cNvPr id="5" name="Content Placeholder 2">
            <a:extLst>
              <a:ext uri="{FF2B5EF4-FFF2-40B4-BE49-F238E27FC236}">
                <a16:creationId xmlns:a16="http://schemas.microsoft.com/office/drawing/2014/main" id="{31831537-7342-2C40-9EED-ABDFBFBF4585}"/>
              </a:ext>
            </a:extLst>
          </p:cNvPr>
          <p:cNvSpPr txBox="1">
            <a:spLocks/>
          </p:cNvSpPr>
          <p:nvPr/>
        </p:nvSpPr>
        <p:spPr>
          <a:xfrm>
            <a:off x="1487724" y="1713462"/>
            <a:ext cx="7796540" cy="3997828"/>
          </a:xfrm>
          <a:prstGeom prst="rect">
            <a:avLst/>
          </a:prstGeom>
        </p:spPr>
        <p:txBody>
          <a:bodyPr/>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457200" indent="-457200">
              <a:buFont typeface="+mj-lt"/>
              <a:buAutoNum type="arabicPeriod"/>
            </a:pPr>
            <a:r>
              <a:rPr lang="en-US"/>
              <a:t>Identify source of electricity based on user inputs, and prepare appropriate datasets for further analysis</a:t>
            </a:r>
          </a:p>
          <a:p>
            <a:pPr marL="457200" indent="-457200">
              <a:buFont typeface="+mj-lt"/>
              <a:buAutoNum type="arabicPeriod"/>
            </a:pPr>
            <a:r>
              <a:rPr lang="en-US"/>
              <a:t>Merge and integrate datasets into the web app</a:t>
            </a:r>
          </a:p>
          <a:p>
            <a:pPr marL="457200" indent="-457200">
              <a:buFont typeface="+mj-lt"/>
              <a:buAutoNum type="arabicPeriod"/>
            </a:pPr>
            <a:r>
              <a:rPr lang="en-US"/>
              <a:t>Analyze and derive insights from the data</a:t>
            </a:r>
          </a:p>
          <a:p>
            <a:pPr marL="457200" indent="-457200">
              <a:buFont typeface="+mj-lt"/>
              <a:buAutoNum type="arabicPeriod"/>
            </a:pPr>
            <a:r>
              <a:rPr lang="en-US"/>
              <a:t>Show numeric outputs, and tables based on the user input</a:t>
            </a:r>
          </a:p>
          <a:p>
            <a:pPr marL="457200" indent="-457200">
              <a:buFont typeface="+mj-lt"/>
              <a:buAutoNum type="arabicPeriod"/>
            </a:pPr>
            <a:r>
              <a:rPr lang="en-US"/>
              <a:t>Create visualization such as graphs and charts that clearly display these insights</a:t>
            </a:r>
          </a:p>
          <a:p>
            <a:pPr marL="457200" indent="-457200">
              <a:buFont typeface="+mj-lt"/>
              <a:buAutoNum type="arabicPeriod"/>
            </a:pPr>
            <a:r>
              <a:rPr lang="en-US"/>
              <a:t>Provide predictions based on previous trends.</a:t>
            </a:r>
          </a:p>
          <a:p>
            <a:endParaRPr lang="en-US"/>
          </a:p>
        </p:txBody>
      </p:sp>
    </p:spTree>
    <p:extLst>
      <p:ext uri="{BB962C8B-B14F-4D97-AF65-F5344CB8AC3E}">
        <p14:creationId xmlns:p14="http://schemas.microsoft.com/office/powerpoint/2010/main" val="410895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ADA2E-3EBE-EB95-217B-257702D76AF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BCD9818-AF50-1700-B795-9A8E5137AFAC}"/>
              </a:ext>
            </a:extLst>
          </p:cNvPr>
          <p:cNvSpPr>
            <a:spLocks noGrp="1"/>
          </p:cNvSpPr>
          <p:nvPr>
            <p:ph type="title"/>
          </p:nvPr>
        </p:nvSpPr>
        <p:spPr>
          <a:xfrm>
            <a:off x="1325933" y="836631"/>
            <a:ext cx="7958331" cy="1077229"/>
          </a:xfrm>
        </p:spPr>
        <p:txBody>
          <a:bodyPr/>
          <a:lstStyle/>
          <a:p>
            <a:pPr algn="l"/>
            <a:r>
              <a:rPr lang="en-US">
                <a:cs typeface="Arial"/>
              </a:rPr>
              <a:t>Course Skills Used:</a:t>
            </a:r>
            <a:endParaRPr lang="en-US"/>
          </a:p>
        </p:txBody>
      </p:sp>
      <p:sp>
        <p:nvSpPr>
          <p:cNvPr id="5" name="Content Placeholder 2">
            <a:extLst>
              <a:ext uri="{FF2B5EF4-FFF2-40B4-BE49-F238E27FC236}">
                <a16:creationId xmlns:a16="http://schemas.microsoft.com/office/drawing/2014/main" id="{CFD2B176-C847-9007-46A2-91AFF61F0960}"/>
              </a:ext>
            </a:extLst>
          </p:cNvPr>
          <p:cNvSpPr txBox="1">
            <a:spLocks/>
          </p:cNvSpPr>
          <p:nvPr/>
        </p:nvSpPr>
        <p:spPr>
          <a:xfrm>
            <a:off x="1478543" y="1716267"/>
            <a:ext cx="7807123" cy="4283578"/>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a:cs typeface="Arial"/>
              </a:rPr>
              <a:t>Using API’s</a:t>
            </a:r>
          </a:p>
          <a:p>
            <a:pPr marL="344170" indent="-337820">
              <a:buFont typeface="Wingdings" panose="020B0604020202020204"/>
              <a:buChar char="§"/>
            </a:pPr>
            <a:r>
              <a:rPr lang="en-US">
                <a:cs typeface="Arial"/>
              </a:rPr>
              <a:t>Merging Data</a:t>
            </a:r>
          </a:p>
          <a:p>
            <a:pPr marL="344170" indent="-337820">
              <a:buFont typeface="Wingdings" panose="020B0604020202020204"/>
              <a:buChar char="§"/>
            </a:pPr>
            <a:r>
              <a:rPr lang="en-US">
                <a:cs typeface="Arial"/>
              </a:rPr>
              <a:t>Cleaning Data</a:t>
            </a:r>
          </a:p>
          <a:p>
            <a:pPr marL="344170" indent="-337820">
              <a:buFont typeface="Wingdings" panose="020B0604020202020204"/>
              <a:buChar char="§"/>
            </a:pPr>
            <a:r>
              <a:rPr lang="en-US">
                <a:cs typeface="Arial"/>
              </a:rPr>
              <a:t>Working with time series </a:t>
            </a:r>
          </a:p>
          <a:p>
            <a:pPr marL="344170" indent="-337820">
              <a:buFont typeface="Wingdings" panose="020B0604020202020204"/>
              <a:buChar char="§"/>
            </a:pPr>
            <a:r>
              <a:rPr lang="en-US">
                <a:cs typeface="Arial"/>
              </a:rPr>
              <a:t>Working with rolling windows and filling in values</a:t>
            </a:r>
          </a:p>
          <a:p>
            <a:pPr marL="344170" indent="-337820">
              <a:buFont typeface="Wingdings" panose="020B0604020202020204"/>
              <a:buChar char="§"/>
            </a:pPr>
            <a:r>
              <a:rPr lang="en-US">
                <a:cs typeface="Arial"/>
              </a:rPr>
              <a:t>Visualizing trends</a:t>
            </a:r>
          </a:p>
          <a:p>
            <a:pPr marL="344170" indent="-337820">
              <a:buFont typeface="Wingdings" panose="020B0604020202020204"/>
              <a:buChar char="§"/>
            </a:pPr>
            <a:r>
              <a:rPr lang="en-US">
                <a:cs typeface="Arial"/>
              </a:rPr>
              <a:t>Making graphs </a:t>
            </a:r>
          </a:p>
          <a:p>
            <a:pPr marL="344170" indent="-337820">
              <a:buFont typeface="Wingdings" panose="020B0604020202020204"/>
              <a:buChar char="§"/>
            </a:pPr>
            <a:r>
              <a:rPr lang="en-US">
                <a:cs typeface="Arial"/>
              </a:rPr>
              <a:t>Creating predictions. </a:t>
            </a:r>
          </a:p>
          <a:p>
            <a:pPr marL="457200" indent="-457200">
              <a:buFont typeface="Wingdings" panose="020B0604020202020204"/>
              <a:buChar char="§"/>
            </a:pPr>
            <a:endParaRPr lang="en-US">
              <a:cs typeface="Arial"/>
            </a:endParaRPr>
          </a:p>
          <a:p>
            <a:pPr marL="344170" indent="-337820"/>
            <a:endParaRPr lang="en-US">
              <a:cs typeface="Arial"/>
            </a:endParaRPr>
          </a:p>
        </p:txBody>
      </p:sp>
    </p:spTree>
    <p:extLst>
      <p:ext uri="{BB962C8B-B14F-4D97-AF65-F5344CB8AC3E}">
        <p14:creationId xmlns:p14="http://schemas.microsoft.com/office/powerpoint/2010/main" val="1241404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5499B-0E0D-BC1E-FD85-D949BA5E4D0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B00154C-C27E-9BDC-4F57-039D528EEF2C}"/>
              </a:ext>
            </a:extLst>
          </p:cNvPr>
          <p:cNvSpPr>
            <a:spLocks noGrp="1"/>
          </p:cNvSpPr>
          <p:nvPr>
            <p:ph type="title"/>
          </p:nvPr>
        </p:nvSpPr>
        <p:spPr>
          <a:xfrm>
            <a:off x="1325933" y="836631"/>
            <a:ext cx="7958331" cy="1077229"/>
          </a:xfrm>
        </p:spPr>
        <p:txBody>
          <a:bodyPr/>
          <a:lstStyle/>
          <a:p>
            <a:pPr algn="l"/>
            <a:r>
              <a:rPr lang="en-US">
                <a:cs typeface="Arial"/>
              </a:rPr>
              <a:t>Challenges:</a:t>
            </a:r>
            <a:endParaRPr lang="en-US"/>
          </a:p>
        </p:txBody>
      </p:sp>
      <p:sp>
        <p:nvSpPr>
          <p:cNvPr id="5" name="Content Placeholder 2">
            <a:extLst>
              <a:ext uri="{FF2B5EF4-FFF2-40B4-BE49-F238E27FC236}">
                <a16:creationId xmlns:a16="http://schemas.microsoft.com/office/drawing/2014/main" id="{58B51FC5-F7B2-5187-2452-06B7DDD052AB}"/>
              </a:ext>
            </a:extLst>
          </p:cNvPr>
          <p:cNvSpPr txBox="1">
            <a:spLocks/>
          </p:cNvSpPr>
          <p:nvPr/>
        </p:nvSpPr>
        <p:spPr>
          <a:xfrm>
            <a:off x="1487724" y="2101857"/>
            <a:ext cx="7807123" cy="4283578"/>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a:cs typeface="Arial"/>
              </a:rPr>
              <a:t>Predictive models</a:t>
            </a:r>
          </a:p>
          <a:p>
            <a:pPr marL="344170" indent="-337820">
              <a:buFont typeface="Wingdings" panose="020B0604020202020204"/>
              <a:buChar char="§"/>
            </a:pPr>
            <a:r>
              <a:rPr lang="en-US">
                <a:cs typeface="Arial"/>
              </a:rPr>
              <a:t>Data limitations</a:t>
            </a:r>
          </a:p>
          <a:p>
            <a:pPr marL="344170" indent="-337820">
              <a:buFont typeface="Wingdings" panose="020B0604020202020204"/>
            </a:pPr>
            <a:r>
              <a:rPr lang="en-US">
                <a:cs typeface="Arial"/>
              </a:rPr>
              <a:t>Error handling while user input is missing</a:t>
            </a:r>
          </a:p>
          <a:p>
            <a:pPr marL="344170" indent="-337820">
              <a:buFont typeface="Wingdings" panose="020B0604020202020204"/>
            </a:pPr>
            <a:endParaRPr lang="en-US">
              <a:cs typeface="Arial"/>
            </a:endParaRPr>
          </a:p>
          <a:p>
            <a:pPr marL="457200" indent="-457200">
              <a:buFont typeface="Wingdings" panose="020B0604020202020204"/>
            </a:pPr>
            <a:endParaRPr lang="en-US">
              <a:cs typeface="Arial"/>
            </a:endParaRPr>
          </a:p>
          <a:p>
            <a:pPr marL="344170" indent="-337820"/>
            <a:endParaRPr lang="en-US">
              <a:cs typeface="Arial"/>
            </a:endParaRPr>
          </a:p>
        </p:txBody>
      </p:sp>
    </p:spTree>
    <p:extLst>
      <p:ext uri="{BB962C8B-B14F-4D97-AF65-F5344CB8AC3E}">
        <p14:creationId xmlns:p14="http://schemas.microsoft.com/office/powerpoint/2010/main" val="3615476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8496-0DA4-3098-54E7-B2D1F2158C8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5CD2732-A02E-940B-718B-84A2096FD5AE}"/>
              </a:ext>
            </a:extLst>
          </p:cNvPr>
          <p:cNvSpPr>
            <a:spLocks noGrp="1"/>
          </p:cNvSpPr>
          <p:nvPr>
            <p:ph type="title"/>
          </p:nvPr>
        </p:nvSpPr>
        <p:spPr>
          <a:xfrm>
            <a:off x="1325933" y="286298"/>
            <a:ext cx="7958331" cy="1077229"/>
          </a:xfrm>
        </p:spPr>
        <p:txBody>
          <a:bodyPr/>
          <a:lstStyle/>
          <a:p>
            <a:pPr algn="l"/>
            <a:r>
              <a:rPr lang="en-US">
                <a:cs typeface="Arial"/>
              </a:rPr>
              <a:t>Future Work:</a:t>
            </a:r>
            <a:endParaRPr lang="en-US"/>
          </a:p>
        </p:txBody>
      </p:sp>
      <p:sp>
        <p:nvSpPr>
          <p:cNvPr id="5" name="Content Placeholder 2">
            <a:extLst>
              <a:ext uri="{FF2B5EF4-FFF2-40B4-BE49-F238E27FC236}">
                <a16:creationId xmlns:a16="http://schemas.microsoft.com/office/drawing/2014/main" id="{4A50A6F2-0045-9356-98F3-2BDCFB15B73A}"/>
              </a:ext>
            </a:extLst>
          </p:cNvPr>
          <p:cNvSpPr txBox="1">
            <a:spLocks/>
          </p:cNvSpPr>
          <p:nvPr/>
        </p:nvSpPr>
        <p:spPr>
          <a:xfrm>
            <a:off x="1328974" y="905940"/>
            <a:ext cx="7807123" cy="2410328"/>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a:cs typeface="Arial"/>
              </a:rPr>
              <a:t>Fine tuning predictive modeling features</a:t>
            </a:r>
          </a:p>
          <a:p>
            <a:pPr marL="344170" indent="-337820">
              <a:buFont typeface="Wingdings" panose="020B0604020202020204"/>
            </a:pPr>
            <a:r>
              <a:rPr lang="en-US">
                <a:cs typeface="Arial"/>
              </a:rPr>
              <a:t>Fine tuning web interface for mobile use.</a:t>
            </a:r>
          </a:p>
          <a:p>
            <a:pPr marL="344170" indent="-337820">
              <a:buFont typeface="Wingdings" panose="020B0604020202020204"/>
            </a:pPr>
            <a:r>
              <a:rPr lang="en-US">
                <a:cs typeface="Arial"/>
              </a:rPr>
              <a:t>Adding Carbon emission features.</a:t>
            </a:r>
            <a:endParaRPr lang="en-US"/>
          </a:p>
          <a:p>
            <a:pPr marL="344170" indent="-337820">
              <a:buFont typeface="Wingdings" panose="020B0604020202020204"/>
            </a:pPr>
            <a:r>
              <a:rPr lang="en-US">
                <a:cs typeface="Arial"/>
              </a:rPr>
              <a:t>Creating Home Usage page to track more specific household consumption metrics</a:t>
            </a:r>
          </a:p>
          <a:p>
            <a:pPr marL="344170" indent="-337820">
              <a:buFont typeface="Wingdings" panose="020B0604020202020204"/>
            </a:pPr>
            <a:endParaRPr lang="en-US">
              <a:cs typeface="Arial"/>
            </a:endParaRPr>
          </a:p>
          <a:p>
            <a:pPr marL="344170" indent="-337820">
              <a:buFont typeface="Wingdings" panose="020B0604020202020204"/>
            </a:pPr>
            <a:endParaRPr lang="en-US">
              <a:cs typeface="Arial"/>
            </a:endParaRPr>
          </a:p>
          <a:p>
            <a:pPr marL="457200" indent="-457200">
              <a:buFont typeface="Wingdings" panose="020B0604020202020204"/>
            </a:pPr>
            <a:endParaRPr lang="en-US">
              <a:cs typeface="Arial"/>
            </a:endParaRPr>
          </a:p>
          <a:p>
            <a:pPr marL="344170" indent="-337820"/>
            <a:endParaRPr lang="en-US">
              <a:cs typeface="Arial"/>
            </a:endParaRPr>
          </a:p>
        </p:txBody>
      </p:sp>
      <p:pic>
        <p:nvPicPr>
          <p:cNvPr id="2" name="Picture 1" descr="A screenshot of a computer&#10;&#10;AI-generated content may be incorrect.">
            <a:extLst>
              <a:ext uri="{FF2B5EF4-FFF2-40B4-BE49-F238E27FC236}">
                <a16:creationId xmlns:a16="http://schemas.microsoft.com/office/drawing/2014/main" id="{1875AD67-A84B-4EA7-5094-E2A2F68F127E}"/>
              </a:ext>
            </a:extLst>
          </p:cNvPr>
          <p:cNvPicPr>
            <a:picLocks noChangeAspect="1"/>
          </p:cNvPicPr>
          <p:nvPr/>
        </p:nvPicPr>
        <p:blipFill>
          <a:blip r:embed="rId2"/>
          <a:stretch>
            <a:fillRect/>
          </a:stretch>
        </p:blipFill>
        <p:spPr>
          <a:xfrm>
            <a:off x="1461349" y="3789871"/>
            <a:ext cx="6200775" cy="2560109"/>
          </a:xfrm>
          <a:prstGeom prst="rect">
            <a:avLst/>
          </a:prstGeom>
        </p:spPr>
      </p:pic>
      <p:sp>
        <p:nvSpPr>
          <p:cNvPr id="4" name="TextBox 3">
            <a:extLst>
              <a:ext uri="{FF2B5EF4-FFF2-40B4-BE49-F238E27FC236}">
                <a16:creationId xmlns:a16="http://schemas.microsoft.com/office/drawing/2014/main" id="{117105F1-BA63-AB35-A311-441CAE023628}"/>
              </a:ext>
            </a:extLst>
          </p:cNvPr>
          <p:cNvSpPr txBox="1"/>
          <p:nvPr/>
        </p:nvSpPr>
        <p:spPr>
          <a:xfrm>
            <a:off x="1460500" y="342466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Example Preview:</a:t>
            </a:r>
            <a:endParaRPr lang="en-US"/>
          </a:p>
        </p:txBody>
      </p:sp>
    </p:spTree>
    <p:extLst>
      <p:ext uri="{BB962C8B-B14F-4D97-AF65-F5344CB8AC3E}">
        <p14:creationId xmlns:p14="http://schemas.microsoft.com/office/powerpoint/2010/main" val="1311462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9CEDC-4ABE-5528-C174-3FD2F5D65BF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F1B1D89-FDD1-C567-7B88-31368651623F}"/>
              </a:ext>
            </a:extLst>
          </p:cNvPr>
          <p:cNvSpPr>
            <a:spLocks noGrp="1"/>
          </p:cNvSpPr>
          <p:nvPr>
            <p:ph type="title"/>
          </p:nvPr>
        </p:nvSpPr>
        <p:spPr>
          <a:xfrm>
            <a:off x="1325933" y="1566881"/>
            <a:ext cx="7958331" cy="1077229"/>
          </a:xfrm>
        </p:spPr>
        <p:txBody>
          <a:bodyPr/>
          <a:lstStyle/>
          <a:p>
            <a:pPr algn="l"/>
            <a:r>
              <a:rPr lang="en-US">
                <a:cs typeface="Arial"/>
              </a:rPr>
              <a:t>Personal Links:</a:t>
            </a:r>
            <a:endParaRPr lang="en-US"/>
          </a:p>
        </p:txBody>
      </p:sp>
      <p:sp>
        <p:nvSpPr>
          <p:cNvPr id="5" name="Content Placeholder 2">
            <a:extLst>
              <a:ext uri="{FF2B5EF4-FFF2-40B4-BE49-F238E27FC236}">
                <a16:creationId xmlns:a16="http://schemas.microsoft.com/office/drawing/2014/main" id="{0F10EBFB-3978-6E63-1C16-2E51952E790D}"/>
              </a:ext>
            </a:extLst>
          </p:cNvPr>
          <p:cNvSpPr txBox="1">
            <a:spLocks/>
          </p:cNvSpPr>
          <p:nvPr/>
        </p:nvSpPr>
        <p:spPr>
          <a:xfrm>
            <a:off x="1328974" y="2334690"/>
            <a:ext cx="7807123" cy="2410328"/>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a:ea typeface="+mn-lt"/>
                <a:cs typeface="+mn-lt"/>
              </a:rPr>
              <a:t>Link to functional web app, hosted through posit </a:t>
            </a:r>
            <a:r>
              <a:rPr lang="en-US">
                <a:ea typeface="+mn-lt"/>
                <a:cs typeface="+mn-lt"/>
                <a:hlinkClick r:id="rId2"/>
              </a:rPr>
              <a:t>https://feliperestrepo101.shinyapps.io/shinyproject/</a:t>
            </a:r>
            <a:r>
              <a:rPr lang="en-US">
                <a:cs typeface="Arial"/>
              </a:rPr>
              <a:t>     </a:t>
            </a:r>
          </a:p>
          <a:p>
            <a:pPr marL="344170" indent="-337820">
              <a:buFont typeface="Wingdings" panose="020B0604020202020204"/>
              <a:buChar char="§"/>
            </a:pPr>
            <a:r>
              <a:rPr lang="en-US">
                <a:cs typeface="Arial"/>
              </a:rPr>
              <a:t>Contains open-source code for the app, and version history with technical documentation </a:t>
            </a:r>
            <a:r>
              <a:rPr lang="en-US">
                <a:cs typeface="Arial"/>
                <a:hlinkClick r:id="rId3"/>
              </a:rPr>
              <a:t>https://github.com/FelipeRestrepo101/HomeEnergySources</a:t>
            </a:r>
            <a:r>
              <a:rPr lang="en-US">
                <a:cs typeface="Arial"/>
              </a:rPr>
              <a:t>  </a:t>
            </a:r>
          </a:p>
          <a:p>
            <a:pPr marL="344170" indent="-337820">
              <a:buFont typeface="Wingdings" panose="020B0604020202020204"/>
              <a:buChar char="§"/>
            </a:pPr>
            <a:endParaRPr lang="en-US">
              <a:cs typeface="Arial"/>
            </a:endParaRPr>
          </a:p>
          <a:p>
            <a:pPr marL="344170" indent="-337820">
              <a:buFont typeface="Wingdings" panose="020B0604020202020204"/>
            </a:pPr>
            <a:endParaRPr lang="en-US">
              <a:cs typeface="Arial"/>
            </a:endParaRPr>
          </a:p>
          <a:p>
            <a:pPr marL="457200" indent="-457200">
              <a:buFont typeface="Wingdings" panose="020B0604020202020204"/>
            </a:pPr>
            <a:endParaRPr lang="en-US">
              <a:cs typeface="Arial"/>
            </a:endParaRPr>
          </a:p>
          <a:p>
            <a:pPr marL="344170" indent="-337820"/>
            <a:endParaRPr lang="en-US">
              <a:cs typeface="Arial"/>
            </a:endParaRPr>
          </a:p>
        </p:txBody>
      </p:sp>
    </p:spTree>
    <p:extLst>
      <p:ext uri="{BB962C8B-B14F-4D97-AF65-F5344CB8AC3E}">
        <p14:creationId xmlns:p14="http://schemas.microsoft.com/office/powerpoint/2010/main" val="486119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FE8CC-D4A2-F384-073E-A6847115B6C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DDB20E5-56CD-F439-3A4B-EC3B0D6E9433}"/>
              </a:ext>
            </a:extLst>
          </p:cNvPr>
          <p:cNvSpPr>
            <a:spLocks noGrp="1"/>
          </p:cNvSpPr>
          <p:nvPr>
            <p:ph type="title"/>
          </p:nvPr>
        </p:nvSpPr>
        <p:spPr>
          <a:xfrm>
            <a:off x="1325933" y="277342"/>
            <a:ext cx="7958331" cy="715768"/>
          </a:xfrm>
        </p:spPr>
        <p:txBody>
          <a:bodyPr/>
          <a:lstStyle/>
          <a:p>
            <a:pPr algn="l"/>
            <a:r>
              <a:rPr lang="en-US">
                <a:cs typeface="Arial"/>
              </a:rPr>
              <a:t>Sources:</a:t>
            </a:r>
            <a:endParaRPr lang="en-US"/>
          </a:p>
        </p:txBody>
      </p:sp>
      <p:sp>
        <p:nvSpPr>
          <p:cNvPr id="5" name="Content Placeholder 2">
            <a:extLst>
              <a:ext uri="{FF2B5EF4-FFF2-40B4-BE49-F238E27FC236}">
                <a16:creationId xmlns:a16="http://schemas.microsoft.com/office/drawing/2014/main" id="{1FAEA371-AC65-99BB-0E3D-A10DD1AA827C}"/>
              </a:ext>
            </a:extLst>
          </p:cNvPr>
          <p:cNvSpPr txBox="1">
            <a:spLocks/>
          </p:cNvSpPr>
          <p:nvPr/>
        </p:nvSpPr>
        <p:spPr>
          <a:xfrm>
            <a:off x="1328974" y="827577"/>
            <a:ext cx="7807123" cy="5210048"/>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sz="1600">
                <a:cs typeface="Arial"/>
              </a:rPr>
              <a:t>EIA website grid monitor</a:t>
            </a:r>
          </a:p>
          <a:p>
            <a:pPr marL="795020" lvl="1" indent="-337820">
              <a:buFont typeface="Wingdings" panose="020B0604020202020204"/>
              <a:buChar char="§"/>
            </a:pPr>
            <a:r>
              <a:rPr lang="en-US" sz="1600">
                <a:cs typeface="Arial"/>
                <a:hlinkClick r:id="rId2"/>
              </a:rPr>
              <a:t>https://www.eia.gov/electricity/gridmonitor/dashboard/electric_overview/US48/US48</a:t>
            </a:r>
            <a:r>
              <a:rPr lang="en-US" sz="1600">
                <a:cs typeface="Arial"/>
              </a:rPr>
              <a:t> </a:t>
            </a:r>
          </a:p>
          <a:p>
            <a:pPr marL="344170" indent="-337820"/>
            <a:r>
              <a:rPr lang="en-US" sz="1600">
                <a:ea typeface="+mn-lt"/>
                <a:cs typeface="+mn-lt"/>
              </a:rPr>
              <a:t>API Browser</a:t>
            </a:r>
          </a:p>
          <a:p>
            <a:pPr marL="795020" lvl="1" indent="-337820"/>
            <a:r>
              <a:rPr lang="en-US" sz="1400">
                <a:ea typeface="+mn-lt"/>
                <a:cs typeface="+mn-lt"/>
                <a:hlinkClick r:id="rId3"/>
              </a:rPr>
              <a:t>https://www.eia.gov/opendata/browser/</a:t>
            </a:r>
            <a:r>
              <a:rPr lang="en-US" sz="1400">
                <a:ea typeface="+mn-lt"/>
                <a:cs typeface="+mn-lt"/>
              </a:rPr>
              <a:t> </a:t>
            </a:r>
            <a:endParaRPr lang="en-US" sz="1400">
              <a:cs typeface="Arial" panose="020B0604020202020204"/>
            </a:endParaRPr>
          </a:p>
          <a:p>
            <a:pPr marL="344170" indent="-337820"/>
            <a:r>
              <a:rPr lang="en-US" sz="1600">
                <a:cs typeface="Arial" panose="020B0604020202020204"/>
              </a:rPr>
              <a:t>Ce5.3 data for average household energy consumption by state</a:t>
            </a:r>
            <a:endParaRPr lang="en-US"/>
          </a:p>
          <a:p>
            <a:pPr marL="795020" lvl="1" indent="-337820"/>
            <a:r>
              <a:rPr lang="en-US" sz="1600">
                <a:cs typeface="Arial"/>
                <a:hlinkClick r:id="rId4"/>
              </a:rPr>
              <a:t>https://www.eia.gov/consumption/residential/data/2020/index.php?view=state#ce</a:t>
            </a:r>
            <a:endParaRPr lang="en-US" sz="1600">
              <a:cs typeface="Arial"/>
            </a:endParaRPr>
          </a:p>
          <a:p>
            <a:pPr marL="795020" lvl="1" indent="-337820"/>
            <a:r>
              <a:rPr lang="en-US" sz="1600">
                <a:cs typeface="Arial"/>
                <a:hlinkClick r:id="rId5"/>
              </a:rPr>
              <a:t>https://www.eia.gov/consumption/residential/data/2020/state/pdf/ce5.3.st.pdf</a:t>
            </a:r>
            <a:r>
              <a:rPr lang="en-US" sz="1600">
                <a:cs typeface="Arial"/>
              </a:rPr>
              <a:t> </a:t>
            </a:r>
          </a:p>
          <a:p>
            <a:pPr marL="344170" indent="-337820">
              <a:buFont typeface="Wingdings" panose="020B0604020202020204"/>
              <a:buChar char="§"/>
            </a:pPr>
            <a:r>
              <a:rPr lang="en-US" sz="1600">
                <a:cs typeface="Arial"/>
              </a:rPr>
              <a:t>zip codes (2023)</a:t>
            </a:r>
            <a:endParaRPr lang="en-US" sz="1600">
              <a:ea typeface="+mn-lt"/>
              <a:cs typeface="+mn-lt"/>
            </a:endParaRPr>
          </a:p>
          <a:p>
            <a:pPr marL="795020" lvl="1" indent="-337820">
              <a:buFont typeface="Wingdings" panose="020B0604020202020204"/>
              <a:buChar char="§"/>
            </a:pPr>
            <a:r>
              <a:rPr lang="en-US" sz="1600">
                <a:ea typeface="+mn-lt"/>
                <a:cs typeface="+mn-lt"/>
                <a:hlinkClick r:id="rId6"/>
              </a:rPr>
              <a:t>https://catalog.data.gov/dataset/u-s-electric-utility-companies-and-rates-look-up-by-zipcode-2023</a:t>
            </a:r>
            <a:endParaRPr lang="en-US" sz="1600">
              <a:cs typeface="Arial"/>
            </a:endParaRPr>
          </a:p>
          <a:p>
            <a:pPr marL="344170" indent="-337820">
              <a:buFont typeface="Wingdings" panose="020B0604020202020204"/>
              <a:buChar char="§"/>
            </a:pPr>
            <a:endParaRPr lang="en-US">
              <a:cs typeface="Arial"/>
            </a:endParaRPr>
          </a:p>
          <a:p>
            <a:pPr marL="457200" indent="-457200">
              <a:buFont typeface="Wingdings" panose="020B0604020202020204"/>
              <a:buChar char="§"/>
            </a:pPr>
            <a:endParaRPr lang="en-US">
              <a:cs typeface="Arial"/>
            </a:endParaRPr>
          </a:p>
          <a:p>
            <a:pPr marL="344170" indent="-337820">
              <a:buFont typeface="Wingdings" panose="05000000000000000000" pitchFamily="2" charset="2"/>
              <a:buChar char="§"/>
            </a:pPr>
            <a:endParaRPr lang="en-US">
              <a:cs typeface="Arial"/>
            </a:endParaRPr>
          </a:p>
        </p:txBody>
      </p:sp>
    </p:spTree>
    <p:extLst>
      <p:ext uri="{BB962C8B-B14F-4D97-AF65-F5344CB8AC3E}">
        <p14:creationId xmlns:p14="http://schemas.microsoft.com/office/powerpoint/2010/main" val="1696567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F8E3-E17E-B831-FB7E-C90044885F3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1D020A5-D535-A8C9-69DE-29B66067241D}"/>
              </a:ext>
            </a:extLst>
          </p:cNvPr>
          <p:cNvSpPr>
            <a:spLocks noGrp="1"/>
          </p:cNvSpPr>
          <p:nvPr>
            <p:ph type="title"/>
          </p:nvPr>
        </p:nvSpPr>
        <p:spPr>
          <a:xfrm>
            <a:off x="1325933" y="277342"/>
            <a:ext cx="7958331" cy="715768"/>
          </a:xfrm>
        </p:spPr>
        <p:txBody>
          <a:bodyPr/>
          <a:lstStyle/>
          <a:p>
            <a:pPr algn="l"/>
            <a:r>
              <a:rPr lang="en-US">
                <a:cs typeface="Arial"/>
              </a:rPr>
              <a:t>Sources:</a:t>
            </a:r>
            <a:endParaRPr lang="en-US"/>
          </a:p>
        </p:txBody>
      </p:sp>
      <p:sp>
        <p:nvSpPr>
          <p:cNvPr id="5" name="Content Placeholder 2">
            <a:extLst>
              <a:ext uri="{FF2B5EF4-FFF2-40B4-BE49-F238E27FC236}">
                <a16:creationId xmlns:a16="http://schemas.microsoft.com/office/drawing/2014/main" id="{850C7CA7-65FA-92E1-4A2E-850D20058212}"/>
              </a:ext>
            </a:extLst>
          </p:cNvPr>
          <p:cNvSpPr txBox="1">
            <a:spLocks/>
          </p:cNvSpPr>
          <p:nvPr/>
        </p:nvSpPr>
        <p:spPr>
          <a:xfrm>
            <a:off x="1328974" y="996305"/>
            <a:ext cx="7807123" cy="5360635"/>
          </a:xfrm>
          <a:prstGeom prst="rect">
            <a:avLst/>
          </a:prstGeom>
        </p:spPr>
        <p:txBody>
          <a:bodyPr lIns="91440" tIns="45720" rIns="91440" bIns="45720" anchor="t"/>
          <a:lst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a:lstStyle>
          <a:p>
            <a:pPr marL="344170" indent="-337820">
              <a:buFont typeface="Wingdings" panose="020B0604020202020204"/>
              <a:buChar char="§"/>
            </a:pPr>
            <a:r>
              <a:rPr lang="en-US" sz="1600">
                <a:cs typeface="Arial"/>
              </a:rPr>
              <a:t>show monthly weather history</a:t>
            </a:r>
          </a:p>
          <a:p>
            <a:pPr marL="795020" lvl="1" indent="-337820">
              <a:buFont typeface="Courier New" panose="020B0604020202020204"/>
              <a:buChar char="o"/>
            </a:pPr>
            <a:r>
              <a:rPr lang="en-US" sz="1600">
                <a:cs typeface="Arial"/>
                <a:hlinkClick r:id="rId2"/>
              </a:rPr>
              <a:t>https://www.wunderground.com/calendar/us/az/phoenix/KPHX/date/2025-3</a:t>
            </a:r>
            <a:r>
              <a:rPr lang="en-US" sz="1600">
                <a:cs typeface="Arial"/>
              </a:rPr>
              <a:t> </a:t>
            </a:r>
          </a:p>
          <a:p>
            <a:pPr marL="344170" indent="-337820">
              <a:buFont typeface="Wingdings" panose="020B0604020202020204"/>
              <a:buChar char="§"/>
            </a:pPr>
            <a:r>
              <a:rPr lang="en-US" sz="1600">
                <a:cs typeface="Arial"/>
              </a:rPr>
              <a:t>Example of utility provider website that did not work:</a:t>
            </a:r>
          </a:p>
          <a:p>
            <a:pPr marL="795020" lvl="1" indent="-337820">
              <a:buFont typeface="Courier New" panose="020B0604020202020204"/>
              <a:buChar char="o"/>
            </a:pPr>
            <a:r>
              <a:rPr lang="en-US" sz="1600">
                <a:cs typeface="Arial"/>
                <a:hlinkClick r:id="rId3"/>
              </a:rPr>
              <a:t>https://www.arcgis.com/apps/InformationLookup/index.html?appid=db6e5122fa8245f78f3b4d7b3f474c62</a:t>
            </a:r>
            <a:r>
              <a:rPr lang="en-US" sz="1600">
                <a:cs typeface="Arial"/>
              </a:rPr>
              <a:t> </a:t>
            </a:r>
          </a:p>
          <a:p>
            <a:pPr marL="795020" lvl="1" indent="-337820">
              <a:buFont typeface="Courier New" panose="020B0604020202020204"/>
              <a:buChar char="o"/>
            </a:pPr>
            <a:r>
              <a:rPr lang="en-US" sz="1600">
                <a:ea typeface="+mn-lt"/>
                <a:cs typeface="+mn-lt"/>
                <a:hlinkClick r:id="rId4"/>
              </a:rPr>
              <a:t>https://www.epa.gov/egrid/power-profiler#/</a:t>
            </a:r>
            <a:endParaRPr lang="en-US" sz="1600">
              <a:cs typeface="Arial"/>
            </a:endParaRPr>
          </a:p>
          <a:p>
            <a:pPr marL="344170" indent="-337820">
              <a:buFont typeface="Wingdings,Sans-Serif" panose="020B0604020202020204"/>
              <a:buChar char="§"/>
            </a:pPr>
            <a:r>
              <a:rPr lang="en-US" sz="1600">
                <a:cs typeface="Arial"/>
              </a:rPr>
              <a:t>EIA-861 Form which helps match balancing authority to </a:t>
            </a:r>
            <a:r>
              <a:rPr lang="en-US" sz="1600" err="1">
                <a:cs typeface="Arial"/>
              </a:rPr>
              <a:t>eiaid</a:t>
            </a:r>
            <a:endParaRPr lang="en-US" sz="1600">
              <a:cs typeface="Arial"/>
            </a:endParaRPr>
          </a:p>
          <a:p>
            <a:pPr marL="795020" lvl="1" indent="-337820">
              <a:buFont typeface="Wingdings,Sans-Serif" panose="020B0604020202020204"/>
              <a:buChar char="§"/>
            </a:pPr>
            <a:r>
              <a:rPr lang="en-US" sz="1600">
                <a:cs typeface="Arial"/>
                <a:hlinkClick r:id="rId5"/>
              </a:rPr>
              <a:t>https://www.eia.gov/electricity/data/eia861/</a:t>
            </a:r>
            <a:r>
              <a:rPr lang="en-US" sz="1600">
                <a:cs typeface="Arial"/>
              </a:rPr>
              <a:t> </a:t>
            </a:r>
          </a:p>
          <a:p>
            <a:pPr marL="344170" indent="-337820">
              <a:buFont typeface="Wingdings,Sans-Serif" panose="020B0604020202020204"/>
              <a:buChar char="§"/>
            </a:pPr>
            <a:endParaRPr lang="en-US">
              <a:cs typeface="Arial"/>
            </a:endParaRPr>
          </a:p>
          <a:p>
            <a:pPr marL="344170" indent="-337820">
              <a:buFont typeface="Wingdings,Sans-Serif" panose="020B0604020202020204"/>
              <a:buChar char="§"/>
            </a:pPr>
            <a:endParaRPr lang="en-US">
              <a:cs typeface="Arial"/>
            </a:endParaRPr>
          </a:p>
          <a:p>
            <a:pPr marL="795020" lvl="1" indent="-337820">
              <a:buFont typeface="Courier New" panose="020B0604020202020204"/>
              <a:buChar char="o"/>
            </a:pPr>
            <a:endParaRPr lang="en-US" sz="1600">
              <a:cs typeface="Arial"/>
            </a:endParaRPr>
          </a:p>
          <a:p>
            <a:pPr marL="795020" lvl="1" indent="-337820">
              <a:buFont typeface="Courier New" panose="020B0604020202020204"/>
              <a:buChar char="o"/>
            </a:pPr>
            <a:endParaRPr lang="en-US" sz="1600">
              <a:cs typeface="Arial"/>
            </a:endParaRPr>
          </a:p>
          <a:p>
            <a:pPr marL="344170" indent="-337820">
              <a:buFont typeface="Wingdings" panose="020B0604020202020204"/>
              <a:buChar char="§"/>
            </a:pPr>
            <a:endParaRPr lang="en-US">
              <a:cs typeface="Arial"/>
            </a:endParaRPr>
          </a:p>
          <a:p>
            <a:pPr marL="344170" indent="-337820">
              <a:buFont typeface="Wingdings" panose="020B0604020202020204"/>
              <a:buChar char="§"/>
            </a:pPr>
            <a:endParaRPr lang="en-US">
              <a:cs typeface="Arial"/>
            </a:endParaRPr>
          </a:p>
          <a:p>
            <a:pPr marL="344170" indent="-337820">
              <a:buFont typeface="Wingdings" panose="020B0604020202020204"/>
            </a:pPr>
            <a:endParaRPr lang="en-US">
              <a:cs typeface="Arial"/>
            </a:endParaRPr>
          </a:p>
          <a:p>
            <a:pPr marL="457200" indent="-457200">
              <a:buFont typeface="Wingdings" panose="020B0604020202020204"/>
            </a:pPr>
            <a:endParaRPr lang="en-US">
              <a:cs typeface="Arial"/>
            </a:endParaRPr>
          </a:p>
          <a:p>
            <a:pPr marL="344170" indent="-337820"/>
            <a:endParaRPr lang="en-US">
              <a:cs typeface="Arial"/>
            </a:endParaRPr>
          </a:p>
        </p:txBody>
      </p:sp>
    </p:spTree>
    <p:extLst>
      <p:ext uri="{BB962C8B-B14F-4D97-AF65-F5344CB8AC3E}">
        <p14:creationId xmlns:p14="http://schemas.microsoft.com/office/powerpoint/2010/main" val="25071127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3768E9FE-37A8-4ADA-8480-2787D1D80DCE}">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0AFCE790-88DF-4DEC-839D-A9D4B1EDE416}">
  <we:reference id="wa200005669" version="2.0.0.0" store="en-US" storeType="omex"/>
  <we:alternateReferences>
    <we:reference id="wa200005669" version="2.0.0.0" store="omex"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9C91D6986A084489A3CC0BB4E8E6D5" ma:contentTypeVersion="5" ma:contentTypeDescription="Create a new document." ma:contentTypeScope="" ma:versionID="980eb2655c4c55ec26797d6bfa7fe274">
  <xsd:schema xmlns:xsd="http://www.w3.org/2001/XMLSchema" xmlns:xs="http://www.w3.org/2001/XMLSchema" xmlns:p="http://schemas.microsoft.com/office/2006/metadata/properties" xmlns:ns3="573c176d-da9f-4f40-83b3-3bcb28a0c65e" targetNamespace="http://schemas.microsoft.com/office/2006/metadata/properties" ma:root="true" ma:fieldsID="d19de427f68107296fdbb9f6a0cb5ea7" ns3:_="">
    <xsd:import namespace="573c176d-da9f-4f40-83b3-3bcb28a0c65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3c176d-da9f-4f40-83b3-3bcb28a0c6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B4A6261-C6FC-4859-81CC-98BAE2D7DFB7}">
  <ds:schemaRefs>
    <ds:schemaRef ds:uri="573c176d-da9f-4f40-83b3-3bcb28a0c65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A9153BB-BBD4-4DD5-B1D8-832E805DE8C6}">
  <ds:schemaRefs>
    <ds:schemaRef ds:uri="http://schemas.microsoft.com/sharepoint/v3/contenttype/forms"/>
  </ds:schemaRefs>
</ds:datastoreItem>
</file>

<file path=customXml/itemProps3.xml><?xml version="1.0" encoding="utf-8"?>
<ds:datastoreItem xmlns:ds="http://schemas.openxmlformats.org/officeDocument/2006/customXml" ds:itemID="{359D2970-E6C1-4CE7-B1B8-41742E053A0D}">
  <ds:schemaRefs>
    <ds:schemaRef ds:uri="573c176d-da9f-4f40-83b3-3bcb28a0c65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Ion</Template>
  <TotalTime>0</TotalTime>
  <Words>1378</Words>
  <Application>Microsoft Office PowerPoint</Application>
  <PresentationFormat>Widescreen</PresentationFormat>
  <Paragraphs>143</Paragraphs>
  <Slides>26</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Arial,Sans-Serif</vt:lpstr>
      <vt:lpstr>Calibri</vt:lpstr>
      <vt:lpstr>Courier New</vt:lpstr>
      <vt:lpstr>DM Sans Medium</vt:lpstr>
      <vt:lpstr>MS Shell Dlg 2</vt:lpstr>
      <vt:lpstr>Wingdings</vt:lpstr>
      <vt:lpstr>Wingdings 3</vt:lpstr>
      <vt:lpstr>Wingdings,Sans-Serif</vt:lpstr>
      <vt:lpstr>Madison</vt:lpstr>
      <vt:lpstr>PowerPoint Presentation</vt:lpstr>
      <vt:lpstr>Project Statement</vt:lpstr>
      <vt:lpstr>Purpose</vt:lpstr>
      <vt:lpstr>Reasoning</vt:lpstr>
      <vt:lpstr>Why Does AI Require so much energy?</vt:lpstr>
      <vt:lpstr>Why Does AI waste so much water?</vt:lpstr>
      <vt:lpstr>Individual Contributions</vt:lpstr>
      <vt:lpstr>Solutions</vt:lpstr>
      <vt:lpstr>Using Models Locally </vt:lpstr>
      <vt:lpstr>PowerPoint Presentation</vt:lpstr>
      <vt:lpstr>Energy production by source:</vt:lpstr>
      <vt:lpstr>PowerPoint Presentation</vt:lpstr>
      <vt:lpstr>PowerPoint Presentation</vt:lpstr>
      <vt:lpstr>Individual Power Source Trends</vt:lpstr>
      <vt:lpstr>Energy Demand</vt:lpstr>
      <vt:lpstr>Energy Demand</vt:lpstr>
      <vt:lpstr>Hourly Demand</vt:lpstr>
      <vt:lpstr>Predictions</vt:lpstr>
      <vt:lpstr>Behind the scenes</vt:lpstr>
      <vt:lpstr>Objectives</vt:lpstr>
      <vt:lpstr>Course Skills Used:</vt:lpstr>
      <vt:lpstr>Challenges:</vt:lpstr>
      <vt:lpstr>Future Work:</vt:lpstr>
      <vt:lpstr>Personal Links:</vt:lpstr>
      <vt:lpstr>Sources: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felipe restrepo</dc:creator>
  <cp:lastModifiedBy>Felipe Restrepo</cp:lastModifiedBy>
  <cp:revision>1</cp:revision>
  <dcterms:created xsi:type="dcterms:W3CDTF">2025-04-24T01:36:04Z</dcterms:created>
  <dcterms:modified xsi:type="dcterms:W3CDTF">2025-11-21T20:15:35Z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0x010100C09C91D6986A084489A3CC0BB4E8E6D5</vt:lpwstr>
  </property>
</Properties>
</file>